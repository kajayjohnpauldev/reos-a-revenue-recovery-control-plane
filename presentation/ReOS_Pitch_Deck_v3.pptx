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033" autoAdjust="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At-risk</c:v>
                </c:pt>
              </c:strCache>
            </c:strRef>
          </c:tx>
          <c:spPr>
            <a:solidFill>
              <a:srgbClr val="1C5A54"/>
            </a:solidFill>
            <a:effectLst/>
          </c:spPr>
          <c:invertIfNegative val="0"/>
          <c:cat>
            <c:strRef>
              <c:f>Sheet1!$A$2:$A$6</c:f>
              <c:strCache>
                <c:ptCount val="5"/>
                <c:pt idx="0">
                  <c:v>Receivables</c:v>
                </c:pt>
                <c:pt idx="1">
                  <c:v>Payments</c:v>
                </c:pt>
                <c:pt idx="2">
                  <c:v>Dispute</c:v>
                </c:pt>
                <c:pt idx="3">
                  <c:v>Checkout</c:v>
                </c:pt>
                <c:pt idx="4">
                  <c:v>Subs</c:v>
                </c:pt>
              </c:strCache>
            </c:strRef>
          </c:cat>
          <c:val>
            <c:numRef>
              <c:f>Sheet1!$B$2:$B$6</c:f>
              <c:numCache>
                <c:formatCode>General</c:formatCode>
                <c:ptCount val="5"/>
                <c:pt idx="0">
                  <c:v>93000</c:v>
                </c:pt>
                <c:pt idx="1">
                  <c:v>80500</c:v>
                </c:pt>
                <c:pt idx="2">
                  <c:v>15000</c:v>
                </c:pt>
                <c:pt idx="3">
                  <c:v>4800</c:v>
                </c:pt>
                <c:pt idx="4">
                  <c:v>1300</c:v>
                </c:pt>
              </c:numCache>
            </c:numRef>
          </c:val>
          <c:extLst>
            <c:ext xmlns:c16="http://schemas.microsoft.com/office/drawing/2014/chart" uri="{C3380CC4-5D6E-409C-BE32-E72D297353CC}">
              <c16:uniqueId val="{00000000-5045-4A3A-9FB8-B0B32748DA2B}"/>
            </c:ext>
          </c:extLst>
        </c:ser>
        <c:ser>
          <c:idx val="1"/>
          <c:order val="1"/>
          <c:tx>
            <c:strRef>
              <c:f>Sheet1!$C$1</c:f>
              <c:strCache>
                <c:ptCount val="1"/>
                <c:pt idx="0">
                  <c:v>Recovered</c:v>
                </c:pt>
              </c:strCache>
            </c:strRef>
          </c:tx>
          <c:spPr>
            <a:solidFill>
              <a:srgbClr val="F0603A"/>
            </a:solidFill>
            <a:effectLst/>
          </c:spPr>
          <c:invertIfNegative val="0"/>
          <c:cat>
            <c:strRef>
              <c:f>Sheet1!$A$2:$A$6</c:f>
              <c:strCache>
                <c:ptCount val="5"/>
                <c:pt idx="0">
                  <c:v>Receivables</c:v>
                </c:pt>
                <c:pt idx="1">
                  <c:v>Payments</c:v>
                </c:pt>
                <c:pt idx="2">
                  <c:v>Dispute</c:v>
                </c:pt>
                <c:pt idx="3">
                  <c:v>Checkout</c:v>
                </c:pt>
                <c:pt idx="4">
                  <c:v>Subs</c:v>
                </c:pt>
              </c:strCache>
            </c:strRef>
          </c:cat>
          <c:val>
            <c:numRef>
              <c:f>Sheet1!$C$2:$C$6</c:f>
              <c:numCache>
                <c:formatCode>General</c:formatCode>
                <c:ptCount val="5"/>
                <c:pt idx="0">
                  <c:v>22000</c:v>
                </c:pt>
                <c:pt idx="1">
                  <c:v>899</c:v>
                </c:pt>
                <c:pt idx="2">
                  <c:v>9000</c:v>
                </c:pt>
                <c:pt idx="3">
                  <c:v>5500</c:v>
                </c:pt>
                <c:pt idx="4">
                  <c:v>1300</c:v>
                </c:pt>
              </c:numCache>
            </c:numRef>
          </c:val>
          <c:extLst>
            <c:ext xmlns:c16="http://schemas.microsoft.com/office/drawing/2014/chart" uri="{C3380CC4-5D6E-409C-BE32-E72D297353CC}">
              <c16:uniqueId val="{00000001-5045-4A3A-9FB8-B0B32748DA2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3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ED3B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57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2171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185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REOS — the Revival Operating System — built for the Razorpay AI Buildathon, Track 03: AI Revenue Recovery. In one line: it helps a merchant recover more revenue, and prove every single rupee. Over the next five minutes I’ll show you the problem, how the system works, why it is safe, and the measured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Merchants leak revenue in four places at once: payment failures, abandoned checkouts, failed subscriptions, and overdue receivables. Today these live in separate tools and separate teams, so the leak is invisible until the money is gone. The recovery that does happen is manual, fragmented, and impossible to measure honestly.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Failed payments are one of the biggest and most under-worked sources of lost revenue. Much of it is recoverable, but the naive fixes backfire — retries double-charge, reminders erode trust. The real opportunity is to work the right case at the right moment, and prove it worked. Our design is built around three numbers: four surfaces unified, one ledger owning money truth, and zero rupees ever moved by 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tools treat a webhook as truth, but a webhook is just a snapshot — the payment marked failed may already be captured, and acting on that stale data double-charges people. The second failure is measurement: later payments get claimed as recovered even when they’d have happened anyway. Recovery without reconciliation is dangerous; recovery without measurement is just noise.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shift — not a prettier dashboard, but a safer operating model. Today recovery is fast, blind, and untrustworthy. With ReOS every action is checked against live state, every message is screened, and every recovered rupee is a verified capture that survives refunds and disputes.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ReOS is a desktop operations console that sits above all four surfaces as one control plane. Every at-risk event becomes one normalized case: detect, reconcile against live state, act once, prove. The operator sees the entire story on a single screen — what happened, why, and whether real money came back.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happens under the hood — the six-layer engine that turns a raw, messy event into a safe, proven recovery.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 flows through six layers, once. Ingestion de-dupes. Normalize unifies. Reconcile re-reads live state — the most important step. Decision scores the best bounded action. Ledger appends money truth and subtracts refunds. Audit makes the whole case exportable. AI is only ever used after the state is trustworthy.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reliability centerpiece and it’s straight from Razorpay’s docs: a payment can go from failed to captured instantly, and a failed webhook can even arrive after the money is in. So before acting, ReOS re-reads live state. If the order is already paid, it logs an intelligent no-op instead of retrying — turning a would-be double charge into a proven non-event. This one demo is worth more than any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payments, safety is the product, not hidden plumbing. ReOS makes a hard split: deterministic code owns money truth, AI only classifies, drafts, and explains — no AI path can move a rupee. Every message passes a dark-pattern screen, consent is enforced, and every refusal shows up on the Guardrails cockpit so you can watch the safety working.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intelligence layer — seven bounded agents, and crucially, an honest split between where we use AI and where we do not.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mistake is letting an LLM do everything. We do the opposite: three AI agents handle judgment — classify, draft, read replies — and three deterministic agents handle anything touching money. One orchestrator routes every case and enforces a fixed tool allowlist. If an agent can’t identify the entity, state, action, or consent, it abstains and escalates. That honesty is itself a scored strength.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is cheap in a hackathon — so everything I’ve described, you can watch run, and then measure.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 &amp; Experiment Studio runs a batch through the same production pipeline and streams it live, walking six scripted moments: stale no-op, blocked duplicate, consented cart recovery, retry-budget stop, high-value escalation, and a refund that auto-subtracts. Then the key move — a treatment-vs-holdout toggle. The holdout sends nothing, so we only ever claim the incremental money the agent actually caused: here, ₹35.7K.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is from the demo dataset and labelled in-app. Gross is what we captured; incremental is gross minus the holdout; net subtracts refunds, fees and discounts. At-risk ₹1.95L, net recovered ₹38.7K, incremental ₹35.7K. We never dress a model’s confidence up as revenue — that honesty is what survives judging.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stop at a headline. ReOS tracks ten measures across opportunity, effectiveness, economics and safety, and every case exports to JSON or CSV in one click so finance can verify it. Audit completeness is first-class: a case only counts when it has its source event, decision reason, tool result, outcome, and stop reason.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ReOS is a real, role-based console with 10+ working screens. Four logins get tailored views — Admin owns policy, Operator works cases, Analyst reads the ledger, Auditor traces decisions. Built in is Baymax, an in-app assistant on Google Gemini with an offline fallback, so anyone can ask what a screen does or why a case was decided.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closing point: the recovered money is the merchant’s — we never claim it as Razorpay’s revenue. Razorpay’s benefit is indirect but real: stickier platform via conversion and retention, measured separately. ReOS runs fully offline with zero keys, has a tested core, and is built on Next.js. Thank you — recover more revenue, and prove every rupee.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M A D E   F O R   R A Z O R P A Y   A I   B U I L D A T H O N</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endParaRPr lang="en-US" sz="950" dirty="0"/>
          </a:p>
        </p:txBody>
      </p:sp>
      <p:grpSp>
        <p:nvGrpSpPr>
          <p:cNvPr id="12" name="Group 11">
            <a:extLst>
              <a:ext uri="{FF2B5EF4-FFF2-40B4-BE49-F238E27FC236}">
                <a16:creationId xmlns:a16="http://schemas.microsoft.com/office/drawing/2014/main" id="{24FADB55-8B5C-CB5E-8547-5822DA81A98A}"/>
              </a:ext>
            </a:extLst>
          </p:cNvPr>
          <p:cNvGrpSpPr/>
          <p:nvPr/>
        </p:nvGrpSpPr>
        <p:grpSpPr>
          <a:xfrm>
            <a:off x="7498080" y="2377440"/>
            <a:ext cx="4206240" cy="4206240"/>
            <a:chOff x="7498080" y="3017520"/>
            <a:chExt cx="4206240" cy="4206240"/>
          </a:xfrm>
        </p:grpSpPr>
        <p:pic>
          <p:nvPicPr>
            <p:cNvPr id="4" name="Image 0" descr="m_star_orange.png"/>
            <p:cNvPicPr>
              <a:picLocks noChangeAspect="1"/>
            </p:cNvPicPr>
            <p:nvPr/>
          </p:nvPicPr>
          <p:blipFill>
            <a:blip r:embed="rId4"/>
            <a:stretch>
              <a:fillRect/>
            </a:stretch>
          </p:blipFill>
          <p:spPr>
            <a:xfrm>
              <a:off x="7498080" y="3017520"/>
              <a:ext cx="4206240" cy="4206240"/>
            </a:xfrm>
            <a:prstGeom prst="rect">
              <a:avLst/>
            </a:prstGeom>
          </p:spPr>
        </p:pic>
        <p:pic>
          <p:nvPicPr>
            <p:cNvPr id="5" name="Image 1" descr="dollar.png"/>
            <p:cNvPicPr>
              <a:picLocks noChangeAspect="1"/>
            </p:cNvPicPr>
            <p:nvPr/>
          </p:nvPicPr>
          <p:blipFill>
            <a:blip r:embed="rId5"/>
            <a:stretch>
              <a:fillRect/>
            </a:stretch>
          </p:blipFill>
          <p:spPr>
            <a:xfrm>
              <a:off x="8549640" y="3977640"/>
              <a:ext cx="2103120" cy="2103120"/>
            </a:xfrm>
            <a:prstGeom prst="rect">
              <a:avLst/>
            </a:prstGeom>
          </p:spPr>
        </p:pic>
      </p:grpSp>
      <p:sp>
        <p:nvSpPr>
          <p:cNvPr id="6" name="Text 2"/>
          <p:cNvSpPr txBox="1"/>
          <p:nvPr/>
        </p:nvSpPr>
        <p:spPr>
          <a:xfrm>
            <a:off x="704088" y="1791478"/>
            <a:ext cx="8229600" cy="320040"/>
          </a:xfrm>
          <a:prstGeom prst="rect">
            <a:avLst/>
          </a:prstGeom>
          <a:noFill/>
          <a:ln/>
        </p:spPr>
        <p:txBody>
          <a:bodyPr wrap="square" rtlCol="0" anchor="ctr"/>
          <a:lstStyle/>
          <a:p>
            <a:pPr marL="0" indent="0">
              <a:buNone/>
            </a:pPr>
            <a:r>
              <a:rPr lang="en-US" sz="1300" kern="0" spc="300" dirty="0">
                <a:solidFill>
                  <a:srgbClr val="C3E84C"/>
                </a:solidFill>
                <a:latin typeface="Poppins SemiBold" pitchFamily="34" charset="0"/>
                <a:ea typeface="Poppins SemiBold" pitchFamily="34" charset="-122"/>
                <a:cs typeface="Poppins SemiBold" pitchFamily="34" charset="-120"/>
              </a:rPr>
              <a:t>REVIVAL OPERATING SYSTEM</a:t>
            </a:r>
            <a:endParaRPr lang="en-US" sz="1300" dirty="0"/>
          </a:p>
        </p:txBody>
      </p:sp>
      <p:sp>
        <p:nvSpPr>
          <p:cNvPr id="7" name="Text 3"/>
          <p:cNvSpPr txBox="1"/>
          <p:nvPr/>
        </p:nvSpPr>
        <p:spPr>
          <a:xfrm>
            <a:off x="704088" y="2199225"/>
            <a:ext cx="10058400" cy="1554480"/>
          </a:xfrm>
          <a:prstGeom prst="rect">
            <a:avLst/>
          </a:prstGeom>
          <a:noFill/>
          <a:ln/>
        </p:spPr>
        <p:txBody>
          <a:bodyPr wrap="square" lIns="0" tIns="0" rIns="0" bIns="0" rtlCol="0" anchor="ctr"/>
          <a:lstStyle/>
          <a:p>
            <a:pPr marL="0" indent="0">
              <a:buNone/>
            </a:pPr>
            <a:r>
              <a:rPr lang="en-US" sz="9600" dirty="0">
                <a:solidFill>
                  <a:srgbClr val="EFE6D3"/>
                </a:solidFill>
                <a:latin typeface="Arial Black" panose="020B0A04020102020204" pitchFamily="34" charset="0"/>
                <a:ea typeface="Archivo Black" pitchFamily="34" charset="-122"/>
                <a:cs typeface="Archivo Black" pitchFamily="34" charset="-120"/>
              </a:rPr>
              <a:t>REOS</a:t>
            </a:r>
            <a:endParaRPr lang="en-US" sz="9600" dirty="0">
              <a:latin typeface="Arial Black" panose="020B0A04020102020204" pitchFamily="34" charset="0"/>
            </a:endParaRPr>
          </a:p>
        </p:txBody>
      </p:sp>
      <p:sp>
        <p:nvSpPr>
          <p:cNvPr id="8" name="Text 4"/>
          <p:cNvSpPr txBox="1"/>
          <p:nvPr/>
        </p:nvSpPr>
        <p:spPr>
          <a:xfrm>
            <a:off x="704088" y="3603016"/>
            <a:ext cx="10058400" cy="822960"/>
          </a:xfrm>
          <a:prstGeom prst="rect">
            <a:avLst/>
          </a:prstGeom>
          <a:noFill/>
          <a:ln/>
        </p:spPr>
        <p:txBody>
          <a:bodyPr wrap="square" lIns="0" tIns="0" rIns="0" bIns="0" rtlCol="0" anchor="ctr"/>
          <a:lstStyle/>
          <a:p>
            <a:pPr marL="0" indent="0">
              <a:buNone/>
            </a:pPr>
            <a:r>
              <a:rPr lang="en-US" sz="4000" dirty="0">
                <a:solidFill>
                  <a:srgbClr val="EFE6D3"/>
                </a:solidFill>
                <a:latin typeface="Aptos Black" panose="020F0502020204030204" pitchFamily="34" charset="0"/>
                <a:ea typeface="Archivo Black" pitchFamily="34" charset="-122"/>
                <a:cs typeface="Archivo Black" pitchFamily="34" charset="-120"/>
              </a:rPr>
              <a:t>Revival Operating System</a:t>
            </a:r>
            <a:endParaRPr lang="en-US" sz="4000" dirty="0">
              <a:latin typeface="Aptos Black" panose="020F0502020204030204" pitchFamily="34" charset="0"/>
            </a:endParaRPr>
          </a:p>
        </p:txBody>
      </p:sp>
      <p:sp>
        <p:nvSpPr>
          <p:cNvPr id="9" name="Text 5"/>
          <p:cNvSpPr txBox="1"/>
          <p:nvPr/>
        </p:nvSpPr>
        <p:spPr>
          <a:xfrm>
            <a:off x="637281" y="4604191"/>
            <a:ext cx="7315200" cy="457200"/>
          </a:xfrm>
          <a:prstGeom prst="rect">
            <a:avLst/>
          </a:prstGeom>
          <a:noFill/>
          <a:ln/>
        </p:spPr>
        <p:txBody>
          <a:bodyPr wrap="square" rtlCol="0" anchor="ctr"/>
          <a:lstStyle/>
          <a:p>
            <a:pPr marL="0" indent="0">
              <a:buNone/>
            </a:pPr>
            <a:r>
              <a:rPr lang="en-US" sz="1600" dirty="0">
                <a:solidFill>
                  <a:srgbClr val="9DBCB4"/>
                </a:solidFill>
                <a:latin typeface="Poppins Medium" pitchFamily="34" charset="0"/>
                <a:ea typeface="Poppins Medium" pitchFamily="34" charset="-122"/>
                <a:cs typeface="Poppins Medium" pitchFamily="34" charset="-120"/>
              </a:rPr>
              <a:t>Recover more revenue. Prove every rupee.</a:t>
            </a:r>
            <a:endParaRPr lang="en-US" sz="1600" dirty="0"/>
          </a:p>
        </p:txBody>
      </p:sp>
      <p:sp>
        <p:nvSpPr>
          <p:cNvPr id="10" name="Shape 6"/>
          <p:cNvSpPr/>
          <p:nvPr/>
        </p:nvSpPr>
        <p:spPr>
          <a:xfrm>
            <a:off x="777240" y="5257800"/>
            <a:ext cx="2743200" cy="402336"/>
          </a:xfrm>
          <a:prstGeom prst="roundRect">
            <a:avLst>
              <a:gd name="adj" fmla="val 50000"/>
            </a:avLst>
          </a:prstGeom>
          <a:ln w="15875">
            <a:solidFill>
              <a:srgbClr val="C3E84C"/>
            </a:solidFill>
            <a:prstDash val="solid"/>
          </a:ln>
        </p:spPr>
        <p:txBody>
          <a:bodyPr/>
          <a:lstStyle/>
          <a:p>
            <a:endParaRPr lang="en-IN"/>
          </a:p>
        </p:txBody>
      </p:sp>
      <p:sp>
        <p:nvSpPr>
          <p:cNvPr id="11" name="Text 7"/>
          <p:cNvSpPr txBox="1"/>
          <p:nvPr/>
        </p:nvSpPr>
        <p:spPr>
          <a:xfrm>
            <a:off x="777240" y="5257800"/>
            <a:ext cx="2743200" cy="402336"/>
          </a:xfrm>
          <a:prstGeom prst="rect">
            <a:avLst/>
          </a:prstGeom>
          <a:noFill/>
          <a:ln/>
        </p:spPr>
        <p:txBody>
          <a:bodyPr wrap="square" lIns="0" tIns="0" rIns="0" bIns="0" rtlCol="0" anchor="ctr"/>
          <a:lstStyle/>
          <a:p>
            <a:pPr marL="0" indent="0" algn="ctr">
              <a:buNone/>
            </a:pPr>
            <a:r>
              <a:rPr lang="en-US" sz="1000" kern="0" spc="100" dirty="0">
                <a:solidFill>
                  <a:srgbClr val="C3E84C"/>
                </a:solidFill>
                <a:latin typeface="Poppins SemiBold" pitchFamily="34" charset="0"/>
                <a:ea typeface="Poppins SemiBold" pitchFamily="34" charset="-122"/>
                <a:cs typeface="Poppins SemiBold" pitchFamily="34" charset="-120"/>
              </a:rPr>
              <a:t>  BY AJAY JOHN PAUL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T H E   P R O B L E M</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1C5A54"/>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914400"/>
            <a:ext cx="7772400" cy="868680"/>
          </a:xfrm>
          <a:prstGeom prst="rect">
            <a:avLst/>
          </a:prstGeom>
          <a:noFill/>
          <a:ln/>
        </p:spPr>
        <p:txBody>
          <a:bodyPr wrap="square" lIns="0" tIns="0" rIns="0" bIns="0" rtlCol="0" anchor="ctr"/>
          <a:lstStyle/>
          <a:p>
            <a:pPr marL="0" indent="0">
              <a:buNone/>
            </a:pPr>
            <a:r>
              <a:rPr lang="en-US" sz="4400" dirty="0">
                <a:solidFill>
                  <a:srgbClr val="121712"/>
                </a:solidFill>
                <a:latin typeface="Archivo Black" pitchFamily="34" charset="0"/>
                <a:ea typeface="Archivo Black" pitchFamily="34" charset="-122"/>
                <a:cs typeface="Archivo Black" pitchFamily="34" charset="-120"/>
              </a:rPr>
              <a:t>Merchants leak</a:t>
            </a:r>
            <a:endParaRPr lang="en-US" sz="4400" dirty="0"/>
          </a:p>
        </p:txBody>
      </p:sp>
      <p:sp>
        <p:nvSpPr>
          <p:cNvPr id="5" name="Text 3"/>
          <p:cNvSpPr txBox="1"/>
          <p:nvPr/>
        </p:nvSpPr>
        <p:spPr>
          <a:xfrm>
            <a:off x="722376" y="1645920"/>
            <a:ext cx="10058400" cy="868680"/>
          </a:xfrm>
          <a:prstGeom prst="rect">
            <a:avLst/>
          </a:prstGeom>
          <a:noFill/>
          <a:ln/>
        </p:spPr>
        <p:txBody>
          <a:bodyPr wrap="square" lIns="0" tIns="0" rIns="0" bIns="0" rtlCol="0" anchor="ctr"/>
          <a:lstStyle/>
          <a:p>
            <a:pPr marL="0" indent="0">
              <a:buNone/>
            </a:pPr>
            <a:r>
              <a:rPr lang="en-US" sz="4400" dirty="0">
                <a:solidFill>
                  <a:srgbClr val="121712"/>
                </a:solidFill>
                <a:latin typeface="Archivo Black" pitchFamily="34" charset="0"/>
                <a:ea typeface="Archivo Black" pitchFamily="34" charset="-122"/>
                <a:cs typeface="Archivo Black" pitchFamily="34" charset="-120"/>
              </a:rPr>
              <a:t>revenue everywhere.</a:t>
            </a:r>
            <a:endParaRPr lang="en-US" sz="4400" dirty="0"/>
          </a:p>
        </p:txBody>
      </p:sp>
      <p:sp>
        <p:nvSpPr>
          <p:cNvPr id="6" name="Text 4"/>
          <p:cNvSpPr txBox="1"/>
          <p:nvPr/>
        </p:nvSpPr>
        <p:spPr>
          <a:xfrm>
            <a:off x="683932" y="2651760"/>
            <a:ext cx="5852160" cy="2377440"/>
          </a:xfrm>
          <a:prstGeom prst="rect">
            <a:avLst/>
          </a:prstGeom>
          <a:noFill/>
          <a:ln/>
        </p:spPr>
        <p:txBody>
          <a:bodyPr wrap="square" lIns="0" tIns="0" rIns="0" bIns="0" rtlCol="0" anchor="t"/>
          <a:lstStyle/>
          <a:p>
            <a:pPr marL="0" indent="0">
              <a:lnSpc>
                <a:spcPts val="1850"/>
              </a:lnSpc>
              <a:buNone/>
            </a:pPr>
            <a:r>
              <a:rPr lang="en-US" sz="1300" dirty="0">
                <a:solidFill>
                  <a:srgbClr val="1C5A54"/>
                </a:solidFill>
                <a:latin typeface="Poppins Medium" pitchFamily="34" charset="0"/>
                <a:ea typeface="Poppins Medium" pitchFamily="34" charset="-122"/>
                <a:cs typeface="Poppins Medium" pitchFamily="34" charset="-120"/>
              </a:rPr>
              <a:t>Every Razorpay merchant loses money in four different places at once, and almost none of it is worked systematically. A card fails and nobody retries it. A shopper fills a cart, then abandons it at the last step. A subscription auto-charge silently fails and the customer churns without ever knowing. An invoice sits unpaid for weeks. Each of these lives in a separate tool with a separate team, so the leak stays invisible until the revenue is already gone — fragmented, manual, and unmeasured.</a:t>
            </a:r>
            <a:endParaRPr lang="en-US" sz="1300" dirty="0"/>
          </a:p>
        </p:txBody>
      </p:sp>
      <p:sp>
        <p:nvSpPr>
          <p:cNvPr id="7" name="Shape 5"/>
          <p:cNvSpPr/>
          <p:nvPr/>
        </p:nvSpPr>
        <p:spPr>
          <a:xfrm>
            <a:off x="6858000" y="2651760"/>
            <a:ext cx="4114800" cy="1051560"/>
          </a:xfrm>
          <a:prstGeom prst="roundRect">
            <a:avLst>
              <a:gd name="adj" fmla="val 8696"/>
            </a:avLst>
          </a:prstGeom>
          <a:solidFill>
            <a:srgbClr val="F3ECDD"/>
          </a:solidFill>
          <a:ln w="12700">
            <a:solidFill>
              <a:srgbClr val="DDD2BB"/>
            </a:solidFill>
            <a:prstDash val="solid"/>
          </a:ln>
        </p:spPr>
        <p:txBody>
          <a:bodyPr/>
          <a:lstStyle/>
          <a:p>
            <a:endParaRPr lang="en-IN"/>
          </a:p>
        </p:txBody>
      </p:sp>
      <p:sp>
        <p:nvSpPr>
          <p:cNvPr id="8" name="Shape 6"/>
          <p:cNvSpPr/>
          <p:nvPr/>
        </p:nvSpPr>
        <p:spPr>
          <a:xfrm>
            <a:off x="6858000" y="2834640"/>
            <a:ext cx="82296" cy="685800"/>
          </a:xfrm>
          <a:prstGeom prst="rect">
            <a:avLst/>
          </a:prstGeom>
          <a:solidFill>
            <a:srgbClr val="F0603A"/>
          </a:solidFill>
          <a:ln/>
        </p:spPr>
        <p:txBody>
          <a:bodyPr/>
          <a:lstStyle/>
          <a:p>
            <a:endParaRPr lang="en-IN"/>
          </a:p>
        </p:txBody>
      </p:sp>
      <p:sp>
        <p:nvSpPr>
          <p:cNvPr id="9" name="Text 7"/>
          <p:cNvSpPr txBox="1"/>
          <p:nvPr/>
        </p:nvSpPr>
        <p:spPr>
          <a:xfrm>
            <a:off x="7132320" y="2798064"/>
            <a:ext cx="3657600" cy="274320"/>
          </a:xfrm>
          <a:prstGeom prst="rect">
            <a:avLst/>
          </a:prstGeom>
          <a:noFill/>
          <a:ln/>
        </p:spPr>
        <p:txBody>
          <a:bodyPr wrap="square" lIns="0" tIns="0" rIns="0" bIns="0" rtlCol="0" anchor="ctr"/>
          <a:lstStyle/>
          <a:p>
            <a:pPr marL="0" indent="0">
              <a:buNone/>
            </a:pPr>
            <a:r>
              <a:rPr lang="en-US" sz="1200" dirty="0">
                <a:solidFill>
                  <a:srgbClr val="F0603A"/>
                </a:solidFill>
                <a:latin typeface="Poppins ExtraBold" pitchFamily="34" charset="0"/>
                <a:ea typeface="Poppins ExtraBold" pitchFamily="34" charset="-122"/>
                <a:cs typeface="Poppins ExtraBold" pitchFamily="34" charset="-120"/>
              </a:rPr>
              <a:t>01 / PAYMENTS</a:t>
            </a:r>
            <a:endParaRPr lang="en-US" sz="1200" dirty="0"/>
          </a:p>
        </p:txBody>
      </p:sp>
      <p:sp>
        <p:nvSpPr>
          <p:cNvPr id="10" name="Text 8"/>
          <p:cNvSpPr txBox="1"/>
          <p:nvPr/>
        </p:nvSpPr>
        <p:spPr>
          <a:xfrm>
            <a:off x="7132320" y="3090672"/>
            <a:ext cx="3611880" cy="548640"/>
          </a:xfrm>
          <a:prstGeom prst="rect">
            <a:avLst/>
          </a:prstGeom>
          <a:noFill/>
          <a:ln/>
        </p:spPr>
        <p:txBody>
          <a:bodyPr wrap="square" lIns="0" tIns="0" rIns="0" bIns="0" rtlCol="0" anchor="ctr"/>
          <a:lstStyle/>
          <a:p>
            <a:pPr marL="0" indent="0">
              <a:lnSpc>
                <a:spcPts val="1400"/>
              </a:lnSpc>
              <a:buNone/>
            </a:pPr>
            <a:r>
              <a:rPr lang="en-US" sz="1100" dirty="0">
                <a:solidFill>
                  <a:srgbClr val="121712"/>
                </a:solidFill>
                <a:latin typeface="Poppins Medium" pitchFamily="34" charset="0"/>
                <a:ea typeface="Poppins Medium" pitchFamily="34" charset="-122"/>
                <a:cs typeface="Poppins Medium" pitchFamily="34" charset="-120"/>
              </a:rPr>
              <a:t>One-off payment failures that are never retried or recovered after the first decline.</a:t>
            </a:r>
            <a:endParaRPr lang="en-US" sz="1100" dirty="0"/>
          </a:p>
        </p:txBody>
      </p:sp>
      <p:sp>
        <p:nvSpPr>
          <p:cNvPr id="11" name="Shape 9"/>
          <p:cNvSpPr/>
          <p:nvPr/>
        </p:nvSpPr>
        <p:spPr>
          <a:xfrm>
            <a:off x="6858000" y="3858768"/>
            <a:ext cx="4114800" cy="1051560"/>
          </a:xfrm>
          <a:prstGeom prst="roundRect">
            <a:avLst>
              <a:gd name="adj" fmla="val 8696"/>
            </a:avLst>
          </a:prstGeom>
          <a:solidFill>
            <a:srgbClr val="F3ECDD"/>
          </a:solidFill>
          <a:ln w="12700">
            <a:solidFill>
              <a:srgbClr val="DDD2BB"/>
            </a:solidFill>
            <a:prstDash val="solid"/>
          </a:ln>
        </p:spPr>
        <p:txBody>
          <a:bodyPr/>
          <a:lstStyle/>
          <a:p>
            <a:endParaRPr lang="en-IN"/>
          </a:p>
        </p:txBody>
      </p:sp>
      <p:sp>
        <p:nvSpPr>
          <p:cNvPr id="12" name="Shape 10"/>
          <p:cNvSpPr/>
          <p:nvPr/>
        </p:nvSpPr>
        <p:spPr>
          <a:xfrm>
            <a:off x="6858000" y="4041648"/>
            <a:ext cx="82296" cy="685800"/>
          </a:xfrm>
          <a:prstGeom prst="rect">
            <a:avLst/>
          </a:prstGeom>
          <a:solidFill>
            <a:srgbClr val="B98AF0"/>
          </a:solidFill>
          <a:ln/>
        </p:spPr>
        <p:txBody>
          <a:bodyPr/>
          <a:lstStyle/>
          <a:p>
            <a:endParaRPr lang="en-IN"/>
          </a:p>
        </p:txBody>
      </p:sp>
      <p:sp>
        <p:nvSpPr>
          <p:cNvPr id="13" name="Text 11"/>
          <p:cNvSpPr txBox="1"/>
          <p:nvPr/>
        </p:nvSpPr>
        <p:spPr>
          <a:xfrm>
            <a:off x="7132320" y="4005072"/>
            <a:ext cx="3657600" cy="274320"/>
          </a:xfrm>
          <a:prstGeom prst="rect">
            <a:avLst/>
          </a:prstGeom>
          <a:noFill/>
          <a:ln/>
        </p:spPr>
        <p:txBody>
          <a:bodyPr wrap="square" lIns="0" tIns="0" rIns="0" bIns="0" rtlCol="0" anchor="ctr"/>
          <a:lstStyle/>
          <a:p>
            <a:pPr marL="0" indent="0">
              <a:buNone/>
            </a:pPr>
            <a:r>
              <a:rPr lang="en-US" sz="1200" dirty="0">
                <a:solidFill>
                  <a:srgbClr val="B98AF0"/>
                </a:solidFill>
                <a:latin typeface="Poppins ExtraBold" pitchFamily="34" charset="0"/>
                <a:ea typeface="Poppins ExtraBold" pitchFamily="34" charset="-122"/>
                <a:cs typeface="Poppins ExtraBold" pitchFamily="34" charset="-120"/>
              </a:rPr>
              <a:t>02 / CHECKOUT</a:t>
            </a:r>
            <a:endParaRPr lang="en-US" sz="1200" dirty="0"/>
          </a:p>
        </p:txBody>
      </p:sp>
      <p:sp>
        <p:nvSpPr>
          <p:cNvPr id="14" name="Text 12"/>
          <p:cNvSpPr txBox="1"/>
          <p:nvPr/>
        </p:nvSpPr>
        <p:spPr>
          <a:xfrm>
            <a:off x="7132320" y="4297680"/>
            <a:ext cx="3611880" cy="548640"/>
          </a:xfrm>
          <a:prstGeom prst="rect">
            <a:avLst/>
          </a:prstGeom>
          <a:noFill/>
          <a:ln/>
        </p:spPr>
        <p:txBody>
          <a:bodyPr wrap="square" lIns="0" tIns="0" rIns="0" bIns="0" rtlCol="0" anchor="ctr"/>
          <a:lstStyle/>
          <a:p>
            <a:pPr marL="0" indent="0">
              <a:lnSpc>
                <a:spcPts val="1400"/>
              </a:lnSpc>
              <a:buNone/>
            </a:pPr>
            <a:r>
              <a:rPr lang="en-US" sz="1100" dirty="0">
                <a:solidFill>
                  <a:srgbClr val="121712"/>
                </a:solidFill>
                <a:latin typeface="Poppins Medium" pitchFamily="34" charset="0"/>
                <a:ea typeface="Poppins Medium" pitchFamily="34" charset="-122"/>
                <a:cs typeface="Poppins Medium" pitchFamily="34" charset="-120"/>
              </a:rPr>
              <a:t>Abandoned carts where buying intent was high but a moment of friction won.</a:t>
            </a:r>
            <a:endParaRPr lang="en-US" sz="1100" dirty="0"/>
          </a:p>
        </p:txBody>
      </p:sp>
      <p:sp>
        <p:nvSpPr>
          <p:cNvPr id="15" name="Shape 13"/>
          <p:cNvSpPr/>
          <p:nvPr/>
        </p:nvSpPr>
        <p:spPr>
          <a:xfrm>
            <a:off x="6858000" y="5065776"/>
            <a:ext cx="4114800" cy="1051560"/>
          </a:xfrm>
          <a:prstGeom prst="roundRect">
            <a:avLst>
              <a:gd name="adj" fmla="val 8696"/>
            </a:avLst>
          </a:prstGeom>
          <a:solidFill>
            <a:srgbClr val="F3ECDD"/>
          </a:solidFill>
          <a:ln w="12700">
            <a:solidFill>
              <a:srgbClr val="DDD2BB"/>
            </a:solidFill>
            <a:prstDash val="solid"/>
          </a:ln>
        </p:spPr>
        <p:txBody>
          <a:bodyPr/>
          <a:lstStyle/>
          <a:p>
            <a:endParaRPr lang="en-IN"/>
          </a:p>
        </p:txBody>
      </p:sp>
      <p:sp>
        <p:nvSpPr>
          <p:cNvPr id="16" name="Shape 14"/>
          <p:cNvSpPr/>
          <p:nvPr/>
        </p:nvSpPr>
        <p:spPr>
          <a:xfrm>
            <a:off x="6858000" y="5248656"/>
            <a:ext cx="82296" cy="685800"/>
          </a:xfrm>
          <a:prstGeom prst="rect">
            <a:avLst/>
          </a:prstGeom>
          <a:solidFill>
            <a:srgbClr val="1C5A54"/>
          </a:solidFill>
          <a:ln/>
        </p:spPr>
        <p:txBody>
          <a:bodyPr/>
          <a:lstStyle/>
          <a:p>
            <a:endParaRPr lang="en-IN"/>
          </a:p>
        </p:txBody>
      </p:sp>
      <p:sp>
        <p:nvSpPr>
          <p:cNvPr id="17" name="Text 15"/>
          <p:cNvSpPr txBox="1"/>
          <p:nvPr/>
        </p:nvSpPr>
        <p:spPr>
          <a:xfrm>
            <a:off x="7132320" y="5212080"/>
            <a:ext cx="3657600" cy="274320"/>
          </a:xfrm>
          <a:prstGeom prst="rect">
            <a:avLst/>
          </a:prstGeom>
          <a:noFill/>
          <a:ln/>
        </p:spPr>
        <p:txBody>
          <a:bodyPr wrap="square" lIns="0" tIns="0" rIns="0" bIns="0" rtlCol="0" anchor="ctr"/>
          <a:lstStyle/>
          <a:p>
            <a:pPr marL="0" indent="0">
              <a:buNone/>
            </a:pPr>
            <a:r>
              <a:rPr lang="en-US" sz="1200" dirty="0">
                <a:solidFill>
                  <a:srgbClr val="1C5A54"/>
                </a:solidFill>
                <a:latin typeface="Poppins ExtraBold" pitchFamily="34" charset="0"/>
                <a:ea typeface="Poppins ExtraBold" pitchFamily="34" charset="-122"/>
                <a:cs typeface="Poppins ExtraBold" pitchFamily="34" charset="-120"/>
              </a:rPr>
              <a:t>03 / SUBSCRIPTIONS</a:t>
            </a:r>
            <a:endParaRPr lang="en-US" sz="1200" dirty="0"/>
          </a:p>
        </p:txBody>
      </p:sp>
      <p:sp>
        <p:nvSpPr>
          <p:cNvPr id="18" name="Text 16"/>
          <p:cNvSpPr txBox="1"/>
          <p:nvPr/>
        </p:nvSpPr>
        <p:spPr>
          <a:xfrm>
            <a:off x="7132320" y="5504688"/>
            <a:ext cx="3611880" cy="548640"/>
          </a:xfrm>
          <a:prstGeom prst="rect">
            <a:avLst/>
          </a:prstGeom>
          <a:noFill/>
          <a:ln/>
        </p:spPr>
        <p:txBody>
          <a:bodyPr wrap="square" lIns="0" tIns="0" rIns="0" bIns="0" rtlCol="0" anchor="ctr"/>
          <a:lstStyle/>
          <a:p>
            <a:pPr marL="0" indent="0">
              <a:lnSpc>
                <a:spcPts val="1400"/>
              </a:lnSpc>
              <a:buNone/>
            </a:pPr>
            <a:r>
              <a:rPr lang="en-US" sz="1100" dirty="0">
                <a:solidFill>
                  <a:srgbClr val="121712"/>
                </a:solidFill>
                <a:latin typeface="Poppins Medium" pitchFamily="34" charset="0"/>
                <a:ea typeface="Poppins Medium" pitchFamily="34" charset="-122"/>
                <a:cs typeface="Poppins Medium" pitchFamily="34" charset="-120"/>
              </a:rPr>
              <a:t>Failed recurring billing that quietly turns into involuntary customer churn.</a:t>
            </a:r>
            <a:endParaRPr lang="en-US" sz="1100" dirty="0"/>
          </a:p>
        </p:txBody>
      </p:sp>
      <p:sp>
        <p:nvSpPr>
          <p:cNvPr id="19" name="Shape 17"/>
          <p:cNvSpPr/>
          <p:nvPr/>
        </p:nvSpPr>
        <p:spPr>
          <a:xfrm>
            <a:off x="777240" y="6126480"/>
            <a:ext cx="2781605" cy="402336"/>
          </a:xfrm>
          <a:prstGeom prst="roundRect">
            <a:avLst>
              <a:gd name="adj" fmla="val 50000"/>
            </a:avLst>
          </a:prstGeom>
          <a:solidFill>
            <a:srgbClr val="0F3D3A"/>
          </a:solidFill>
          <a:ln/>
        </p:spPr>
        <p:txBody>
          <a:bodyPr/>
          <a:lstStyle/>
          <a:p>
            <a:endParaRPr lang="en-IN"/>
          </a:p>
        </p:txBody>
      </p:sp>
      <p:sp>
        <p:nvSpPr>
          <p:cNvPr id="20" name="Text 18"/>
          <p:cNvSpPr txBox="1"/>
          <p:nvPr/>
        </p:nvSpPr>
        <p:spPr>
          <a:xfrm>
            <a:off x="777240" y="6126480"/>
            <a:ext cx="2781605" cy="402336"/>
          </a:xfrm>
          <a:prstGeom prst="rect">
            <a:avLst/>
          </a:prstGeom>
          <a:noFill/>
          <a:ln/>
        </p:spPr>
        <p:txBody>
          <a:bodyPr wrap="square" lIns="0" tIns="0" rIns="0" bIns="0" rtlCol="0" anchor="ctr"/>
          <a:lstStyle/>
          <a:p>
            <a:pPr marL="0" indent="0" algn="ctr">
              <a:buNone/>
            </a:pPr>
            <a:r>
              <a:rPr lang="en-US" sz="1000" kern="0" spc="100" dirty="0">
                <a:solidFill>
                  <a:srgbClr val="EFE6D3"/>
                </a:solidFill>
                <a:latin typeface="Poppins SemiBold" pitchFamily="34" charset="0"/>
                <a:ea typeface="Poppins SemiBold" pitchFamily="34" charset="-122"/>
                <a:cs typeface="Poppins SemiBold" pitchFamily="34" charset="-120"/>
              </a:rPr>
              <a:t>  GITHUB.COM/KAJAYJOHNPAULDEV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W H Y   I T   M A T T E R S</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914400"/>
            <a:ext cx="8229600" cy="822960"/>
          </a:xfrm>
          <a:prstGeom prst="rect">
            <a:avLst/>
          </a:prstGeom>
          <a:noFill/>
          <a:ln/>
        </p:spPr>
        <p:txBody>
          <a:bodyPr wrap="square" lIns="0" tIns="0" rIns="0" bIns="0" rtlCol="0" anchor="ctr"/>
          <a:lstStyle/>
          <a:p>
            <a:pPr marL="0" indent="0">
              <a:buNone/>
            </a:pPr>
            <a:r>
              <a:rPr lang="en-US" sz="4400" dirty="0">
                <a:solidFill>
                  <a:srgbClr val="EFE6D3"/>
                </a:solidFill>
                <a:latin typeface="Archivo Black" pitchFamily="34" charset="0"/>
                <a:ea typeface="Archivo Black" pitchFamily="34" charset="-122"/>
                <a:cs typeface="Archivo Black" pitchFamily="34" charset="-120"/>
              </a:rPr>
              <a:t>The cost of</a:t>
            </a:r>
            <a:endParaRPr lang="en-US" sz="4400" dirty="0"/>
          </a:p>
        </p:txBody>
      </p:sp>
      <p:sp>
        <p:nvSpPr>
          <p:cNvPr id="5" name="Text 3"/>
          <p:cNvSpPr txBox="1"/>
          <p:nvPr/>
        </p:nvSpPr>
        <p:spPr>
          <a:xfrm>
            <a:off x="722376" y="1664208"/>
            <a:ext cx="8229600" cy="822960"/>
          </a:xfrm>
          <a:prstGeom prst="rect">
            <a:avLst/>
          </a:prstGeom>
          <a:noFill/>
          <a:ln/>
        </p:spPr>
        <p:txBody>
          <a:bodyPr wrap="square" lIns="0" tIns="0" rIns="0" bIns="0" rtlCol="0" anchor="ctr"/>
          <a:lstStyle/>
          <a:p>
            <a:pPr marL="0" indent="0">
              <a:buNone/>
            </a:pPr>
            <a:r>
              <a:rPr lang="en-US" sz="4400" dirty="0">
                <a:solidFill>
                  <a:srgbClr val="EFE6D3"/>
                </a:solidFill>
                <a:latin typeface="Archivo Black" pitchFamily="34" charset="0"/>
                <a:ea typeface="Archivo Black" pitchFamily="34" charset="-122"/>
                <a:cs typeface="Archivo Black" pitchFamily="34" charset="-120"/>
              </a:rPr>
              <a:t>doing nothing.</a:t>
            </a:r>
            <a:endParaRPr lang="en-US" sz="4400" dirty="0"/>
          </a:p>
        </p:txBody>
      </p:sp>
      <p:sp>
        <p:nvSpPr>
          <p:cNvPr id="6" name="Text 4"/>
          <p:cNvSpPr txBox="1"/>
          <p:nvPr/>
        </p:nvSpPr>
        <p:spPr>
          <a:xfrm>
            <a:off x="777240" y="2651760"/>
            <a:ext cx="10607040" cy="2377440"/>
          </a:xfrm>
          <a:prstGeom prst="rect">
            <a:avLst/>
          </a:prstGeom>
          <a:noFill/>
          <a:ln/>
        </p:spPr>
        <p:txBody>
          <a:bodyPr wrap="square" lIns="0" tIns="0" rIns="0" bIns="0" rtlCol="0" anchor="t"/>
          <a:lstStyle/>
          <a:p>
            <a:pPr marL="0" indent="0">
              <a:lnSpc>
                <a:spcPts val="2000"/>
              </a:lnSpc>
              <a:buNone/>
            </a:pPr>
            <a:r>
              <a:rPr lang="en-US" sz="1350" dirty="0">
                <a:solidFill>
                  <a:srgbClr val="9DBCB4"/>
                </a:solidFill>
                <a:latin typeface="Poppins Medium" pitchFamily="34" charset="0"/>
                <a:ea typeface="Poppins Medium" pitchFamily="34" charset="-122"/>
                <a:cs typeface="Poppins Medium" pitchFamily="34" charset="-120"/>
              </a:rPr>
              <a:t>Failed payments are not edge cases — for many businesses they are one of the single largest sources of lost revenue and involuntary churn. A large share of failed recurring charges are recoverable with the right retry at the right time, yet most are never touched. Worse, the naive fixes make things worse: aggressive retries double-charge real customers, and aggressive reminders erode the trust that made the customer valuable in the first place. The opportunity is not “send more messages.” It is to work the right case, at the right moment, with proof that it worked.</a:t>
            </a:r>
            <a:endParaRPr lang="en-US" sz="1350" dirty="0"/>
          </a:p>
        </p:txBody>
      </p:sp>
      <p:sp>
        <p:nvSpPr>
          <p:cNvPr id="7" name="Shape 5"/>
          <p:cNvSpPr/>
          <p:nvPr/>
        </p:nvSpPr>
        <p:spPr>
          <a:xfrm>
            <a:off x="777240" y="4206240"/>
            <a:ext cx="3429000" cy="1737360"/>
          </a:xfrm>
          <a:prstGeom prst="roundRect">
            <a:avLst>
              <a:gd name="adj" fmla="val 7368"/>
            </a:avLst>
          </a:prstGeom>
          <a:solidFill>
            <a:srgbClr val="16211C"/>
          </a:solidFill>
          <a:ln w="12700">
            <a:solidFill>
              <a:srgbClr val="27352E"/>
            </a:solidFill>
            <a:prstDash val="solid"/>
          </a:ln>
        </p:spPr>
        <p:txBody>
          <a:bodyPr/>
          <a:lstStyle/>
          <a:p>
            <a:endParaRPr lang="en-IN"/>
          </a:p>
        </p:txBody>
      </p:sp>
      <p:sp>
        <p:nvSpPr>
          <p:cNvPr id="8" name="Text 6"/>
          <p:cNvSpPr txBox="1"/>
          <p:nvPr/>
        </p:nvSpPr>
        <p:spPr>
          <a:xfrm>
            <a:off x="1051560" y="4370832"/>
            <a:ext cx="2880360" cy="822960"/>
          </a:xfrm>
          <a:prstGeom prst="rect">
            <a:avLst/>
          </a:prstGeom>
          <a:noFill/>
          <a:ln/>
        </p:spPr>
        <p:txBody>
          <a:bodyPr wrap="square" lIns="0" tIns="0" rIns="0" bIns="0" rtlCol="0" anchor="ctr"/>
          <a:lstStyle/>
          <a:p>
            <a:pPr marL="0" indent="0">
              <a:buNone/>
            </a:pPr>
            <a:r>
              <a:rPr lang="en-US" sz="5200" dirty="0">
                <a:solidFill>
                  <a:srgbClr val="F0603A"/>
                </a:solidFill>
                <a:latin typeface="Archivo Black" pitchFamily="34" charset="0"/>
                <a:ea typeface="Archivo Black" pitchFamily="34" charset="-122"/>
                <a:cs typeface="Archivo Black" pitchFamily="34" charset="-120"/>
              </a:rPr>
              <a:t>4</a:t>
            </a:r>
            <a:endParaRPr lang="en-US" sz="5200" dirty="0"/>
          </a:p>
        </p:txBody>
      </p:sp>
      <p:sp>
        <p:nvSpPr>
          <p:cNvPr id="9" name="Text 7"/>
          <p:cNvSpPr txBox="1"/>
          <p:nvPr/>
        </p:nvSpPr>
        <p:spPr>
          <a:xfrm>
            <a:off x="1051560" y="5257800"/>
            <a:ext cx="2926080" cy="640080"/>
          </a:xfrm>
          <a:prstGeom prst="rect">
            <a:avLst/>
          </a:prstGeom>
          <a:noFill/>
          <a:ln/>
        </p:spPr>
        <p:txBody>
          <a:bodyPr wrap="square" lIns="0" tIns="0" rIns="0" bIns="0" rtlCol="0" anchor="ctr"/>
          <a:lstStyle/>
          <a:p>
            <a:pPr marL="0" indent="0">
              <a:lnSpc>
                <a:spcPts val="1500"/>
              </a:lnSpc>
              <a:buNone/>
            </a:pPr>
            <a:r>
              <a:rPr lang="en-US" sz="1200" dirty="0">
                <a:solidFill>
                  <a:srgbClr val="EFE6D3"/>
                </a:solidFill>
                <a:latin typeface="Poppins SemiBold" pitchFamily="34" charset="0"/>
                <a:ea typeface="Poppins SemiBold" pitchFamily="34" charset="-122"/>
                <a:cs typeface="Poppins SemiBold" pitchFamily="34" charset="-120"/>
              </a:rPr>
              <a:t>revenue-leak surfaces, unified into one case model</a:t>
            </a:r>
            <a:endParaRPr lang="en-US" sz="1200" dirty="0"/>
          </a:p>
        </p:txBody>
      </p:sp>
      <p:sp>
        <p:nvSpPr>
          <p:cNvPr id="10" name="Shape 8"/>
          <p:cNvSpPr/>
          <p:nvPr/>
        </p:nvSpPr>
        <p:spPr>
          <a:xfrm>
            <a:off x="4462272" y="4206240"/>
            <a:ext cx="3429000" cy="1737360"/>
          </a:xfrm>
          <a:prstGeom prst="roundRect">
            <a:avLst>
              <a:gd name="adj" fmla="val 7368"/>
            </a:avLst>
          </a:prstGeom>
          <a:solidFill>
            <a:srgbClr val="16211C"/>
          </a:solidFill>
          <a:ln w="12700">
            <a:solidFill>
              <a:srgbClr val="27352E"/>
            </a:solidFill>
            <a:prstDash val="solid"/>
          </a:ln>
        </p:spPr>
        <p:txBody>
          <a:bodyPr/>
          <a:lstStyle/>
          <a:p>
            <a:endParaRPr lang="en-IN"/>
          </a:p>
        </p:txBody>
      </p:sp>
      <p:sp>
        <p:nvSpPr>
          <p:cNvPr id="11" name="Text 9"/>
          <p:cNvSpPr txBox="1"/>
          <p:nvPr/>
        </p:nvSpPr>
        <p:spPr>
          <a:xfrm>
            <a:off x="4736592" y="4370832"/>
            <a:ext cx="2880360" cy="822960"/>
          </a:xfrm>
          <a:prstGeom prst="rect">
            <a:avLst/>
          </a:prstGeom>
          <a:noFill/>
          <a:ln/>
        </p:spPr>
        <p:txBody>
          <a:bodyPr wrap="square" lIns="0" tIns="0" rIns="0" bIns="0" rtlCol="0" anchor="ctr"/>
          <a:lstStyle/>
          <a:p>
            <a:pPr marL="0" indent="0">
              <a:buNone/>
            </a:pPr>
            <a:r>
              <a:rPr lang="en-US" sz="5200" dirty="0">
                <a:solidFill>
                  <a:srgbClr val="C3E84C"/>
                </a:solidFill>
                <a:latin typeface="Archivo Black" pitchFamily="34" charset="0"/>
                <a:ea typeface="Archivo Black" pitchFamily="34" charset="-122"/>
                <a:cs typeface="Archivo Black" pitchFamily="34" charset="-120"/>
              </a:rPr>
              <a:t>1</a:t>
            </a:r>
            <a:endParaRPr lang="en-US" sz="5200" dirty="0"/>
          </a:p>
        </p:txBody>
      </p:sp>
      <p:sp>
        <p:nvSpPr>
          <p:cNvPr id="12" name="Text 10"/>
          <p:cNvSpPr txBox="1"/>
          <p:nvPr/>
        </p:nvSpPr>
        <p:spPr>
          <a:xfrm>
            <a:off x="4736592" y="5257800"/>
            <a:ext cx="2926080" cy="640080"/>
          </a:xfrm>
          <a:prstGeom prst="rect">
            <a:avLst/>
          </a:prstGeom>
          <a:noFill/>
          <a:ln/>
        </p:spPr>
        <p:txBody>
          <a:bodyPr wrap="square" lIns="0" tIns="0" rIns="0" bIns="0" rtlCol="0" anchor="ctr"/>
          <a:lstStyle/>
          <a:p>
            <a:pPr marL="0" indent="0">
              <a:lnSpc>
                <a:spcPts val="1500"/>
              </a:lnSpc>
              <a:buNone/>
            </a:pPr>
            <a:r>
              <a:rPr lang="en-US" sz="1200" dirty="0">
                <a:solidFill>
                  <a:srgbClr val="EFE6D3"/>
                </a:solidFill>
                <a:latin typeface="Poppins SemiBold" pitchFamily="34" charset="0"/>
                <a:ea typeface="Poppins SemiBold" pitchFamily="34" charset="-122"/>
                <a:cs typeface="Poppins SemiBold" pitchFamily="34" charset="-120"/>
              </a:rPr>
              <a:t>deterministic ledger that owns all money truth</a:t>
            </a:r>
            <a:endParaRPr lang="en-US" sz="1200" dirty="0"/>
          </a:p>
        </p:txBody>
      </p:sp>
      <p:sp>
        <p:nvSpPr>
          <p:cNvPr id="13" name="Shape 11"/>
          <p:cNvSpPr/>
          <p:nvPr/>
        </p:nvSpPr>
        <p:spPr>
          <a:xfrm>
            <a:off x="8147304" y="4206240"/>
            <a:ext cx="3429000" cy="1737360"/>
          </a:xfrm>
          <a:prstGeom prst="roundRect">
            <a:avLst>
              <a:gd name="adj" fmla="val 7368"/>
            </a:avLst>
          </a:prstGeom>
          <a:solidFill>
            <a:srgbClr val="16211C"/>
          </a:solidFill>
          <a:ln w="12700">
            <a:solidFill>
              <a:srgbClr val="27352E"/>
            </a:solidFill>
            <a:prstDash val="solid"/>
          </a:ln>
        </p:spPr>
        <p:txBody>
          <a:bodyPr/>
          <a:lstStyle/>
          <a:p>
            <a:endParaRPr lang="en-IN"/>
          </a:p>
        </p:txBody>
      </p:sp>
      <p:sp>
        <p:nvSpPr>
          <p:cNvPr id="14" name="Text 12"/>
          <p:cNvSpPr txBox="1"/>
          <p:nvPr/>
        </p:nvSpPr>
        <p:spPr>
          <a:xfrm>
            <a:off x="8421624" y="4370832"/>
            <a:ext cx="2880360" cy="822960"/>
          </a:xfrm>
          <a:prstGeom prst="rect">
            <a:avLst/>
          </a:prstGeom>
          <a:noFill/>
          <a:ln/>
        </p:spPr>
        <p:txBody>
          <a:bodyPr wrap="square" lIns="0" tIns="0" rIns="0" bIns="0" rtlCol="0" anchor="ctr"/>
          <a:lstStyle/>
          <a:p>
            <a:pPr marL="0" indent="0">
              <a:buNone/>
            </a:pPr>
            <a:r>
              <a:rPr lang="en-US" sz="5200" dirty="0">
                <a:solidFill>
                  <a:srgbClr val="B98AF0"/>
                </a:solidFill>
                <a:latin typeface="Archivo Black" pitchFamily="34" charset="0"/>
                <a:ea typeface="Archivo Black" pitchFamily="34" charset="-122"/>
                <a:cs typeface="Archivo Black" pitchFamily="34" charset="-120"/>
              </a:rPr>
              <a:t>0</a:t>
            </a:r>
            <a:endParaRPr lang="en-US" sz="5200" dirty="0"/>
          </a:p>
        </p:txBody>
      </p:sp>
      <p:sp>
        <p:nvSpPr>
          <p:cNvPr id="15" name="Text 13"/>
          <p:cNvSpPr txBox="1"/>
          <p:nvPr/>
        </p:nvSpPr>
        <p:spPr>
          <a:xfrm>
            <a:off x="8421624" y="5257800"/>
            <a:ext cx="2926080" cy="640080"/>
          </a:xfrm>
          <a:prstGeom prst="rect">
            <a:avLst/>
          </a:prstGeom>
          <a:noFill/>
          <a:ln/>
        </p:spPr>
        <p:txBody>
          <a:bodyPr wrap="square" lIns="0" tIns="0" rIns="0" bIns="0" rtlCol="0" anchor="ctr"/>
          <a:lstStyle/>
          <a:p>
            <a:pPr marL="0" indent="0">
              <a:lnSpc>
                <a:spcPts val="1500"/>
              </a:lnSpc>
              <a:buNone/>
            </a:pPr>
            <a:r>
              <a:rPr lang="en-US" sz="1200" dirty="0">
                <a:solidFill>
                  <a:srgbClr val="EFE6D3"/>
                </a:solidFill>
                <a:latin typeface="Poppins SemiBold" pitchFamily="34" charset="0"/>
                <a:ea typeface="Poppins SemiBold" pitchFamily="34" charset="-122"/>
                <a:cs typeface="Poppins SemiBold" pitchFamily="34" charset="-120"/>
              </a:rPr>
              <a:t>rupees moved by AI — ever, by design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82735" y="0"/>
            <a:ext cx="3108960" cy="6858000"/>
          </a:xfrm>
          <a:prstGeom prst="rect">
            <a:avLst/>
          </a:prstGeom>
          <a:solidFill>
            <a:srgbClr val="B98AF0"/>
          </a:solidFill>
          <a:ln/>
        </p:spPr>
        <p:txBody>
          <a:bodyPr/>
          <a:lstStyle/>
          <a:p>
            <a:endParaRPr lang="en-IN"/>
          </a:p>
        </p:txBody>
      </p:sp>
      <p:sp>
        <p:nvSpPr>
          <p:cNvPr id="3" name="Text 1"/>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T H E   G A P</a:t>
            </a:r>
            <a:endParaRPr lang="en-US" sz="950" dirty="0"/>
          </a:p>
        </p:txBody>
      </p:sp>
      <p:sp>
        <p:nvSpPr>
          <p:cNvPr id="4" name="Text 2"/>
          <p:cNvSpPr txBox="1"/>
          <p:nvPr/>
        </p:nvSpPr>
        <p:spPr>
          <a:xfrm>
            <a:off x="5928055" y="384048"/>
            <a:ext cx="5486400" cy="274320"/>
          </a:xfrm>
          <a:prstGeom prst="rect">
            <a:avLst/>
          </a:prstGeom>
          <a:noFill/>
          <a:ln/>
        </p:spPr>
        <p:txBody>
          <a:bodyPr wrap="square" rtlCol="0" anchor="ctr"/>
          <a:lstStyle/>
          <a:p>
            <a:pPr marL="0" indent="0" algn="r">
              <a:buNone/>
            </a:pPr>
            <a:endParaRPr lang="en-US" sz="950" dirty="0"/>
          </a:p>
        </p:txBody>
      </p:sp>
      <p:sp>
        <p:nvSpPr>
          <p:cNvPr id="5" name="Text 3"/>
          <p:cNvSpPr txBox="1"/>
          <p:nvPr/>
        </p:nvSpPr>
        <p:spPr>
          <a:xfrm>
            <a:off x="722376" y="914400"/>
            <a:ext cx="8229600" cy="868680"/>
          </a:xfrm>
          <a:prstGeom prst="rect">
            <a:avLst/>
          </a:prstGeom>
          <a:noFill/>
          <a:ln/>
        </p:spPr>
        <p:txBody>
          <a:bodyPr wrap="square" lIns="0" tIns="0" rIns="0" bIns="0" rtlCol="0" anchor="ctr"/>
          <a:lstStyle/>
          <a:p>
            <a:pPr marL="0" indent="0">
              <a:buNone/>
            </a:pPr>
            <a:r>
              <a:rPr lang="en-US" sz="4200" dirty="0">
                <a:solidFill>
                  <a:srgbClr val="121712"/>
                </a:solidFill>
                <a:latin typeface="Archivo Black" pitchFamily="34" charset="0"/>
                <a:ea typeface="Archivo Black" pitchFamily="34" charset="-122"/>
                <a:cs typeface="Archivo Black" pitchFamily="34" charset="-120"/>
              </a:rPr>
              <a:t>Why current tools</a:t>
            </a:r>
            <a:endParaRPr lang="en-US" sz="4200" dirty="0"/>
          </a:p>
        </p:txBody>
      </p:sp>
      <p:sp>
        <p:nvSpPr>
          <p:cNvPr id="6" name="Text 4"/>
          <p:cNvSpPr txBox="1"/>
          <p:nvPr/>
        </p:nvSpPr>
        <p:spPr>
          <a:xfrm>
            <a:off x="722376" y="1627632"/>
            <a:ext cx="7315200" cy="868680"/>
          </a:xfrm>
          <a:prstGeom prst="rect">
            <a:avLst/>
          </a:prstGeom>
          <a:noFill/>
          <a:ln/>
        </p:spPr>
        <p:txBody>
          <a:bodyPr wrap="square" lIns="0" tIns="0" rIns="0" bIns="0" rtlCol="0" anchor="ctr"/>
          <a:lstStyle/>
          <a:p>
            <a:pPr marL="0" indent="0">
              <a:buNone/>
            </a:pPr>
            <a:r>
              <a:rPr lang="en-US" sz="4200" dirty="0">
                <a:solidFill>
                  <a:srgbClr val="121712"/>
                </a:solidFill>
                <a:latin typeface="Archivo Black" pitchFamily="34" charset="0"/>
                <a:ea typeface="Archivo Black" pitchFamily="34" charset="-122"/>
                <a:cs typeface="Archivo Black" pitchFamily="34" charset="-120"/>
              </a:rPr>
              <a:t>fall short.</a:t>
            </a:r>
            <a:endParaRPr lang="en-US" sz="4200" dirty="0"/>
          </a:p>
        </p:txBody>
      </p:sp>
      <p:sp>
        <p:nvSpPr>
          <p:cNvPr id="7" name="Text 5"/>
          <p:cNvSpPr txBox="1"/>
          <p:nvPr/>
        </p:nvSpPr>
        <p:spPr>
          <a:xfrm>
            <a:off x="777240" y="2606040"/>
            <a:ext cx="7680960" cy="2377440"/>
          </a:xfrm>
          <a:prstGeom prst="rect">
            <a:avLst/>
          </a:prstGeom>
          <a:noFill/>
          <a:ln/>
        </p:spPr>
        <p:txBody>
          <a:bodyPr wrap="square" lIns="0" tIns="0" rIns="0" bIns="0" rtlCol="0" anchor="t"/>
          <a:lstStyle/>
          <a:p>
            <a:pPr marL="0" indent="0">
              <a:lnSpc>
                <a:spcPts val="1900"/>
              </a:lnSpc>
              <a:buNone/>
            </a:pPr>
            <a:r>
              <a:rPr lang="en-US" sz="1300" dirty="0">
                <a:solidFill>
                  <a:srgbClr val="1C5A54"/>
                </a:solidFill>
                <a:latin typeface="Poppins Medium" pitchFamily="34" charset="0"/>
                <a:ea typeface="Poppins Medium" pitchFamily="34" charset="-122"/>
                <a:cs typeface="Poppins Medium" pitchFamily="34" charset="-120"/>
              </a:rPr>
              <a:t>Most recovery tools treat a webhook as the truth. But a webhook is only a snapshot of one moment — and by the time it is processed, the world may have moved on. A payment marked “failed” may already be captured on retry. Acting on that stale snapshot is how customers get charged twice. The second failure is measurement: a later payment is claimed as “recovered” even when it would have happened anyway, and refunds quietly inflate the totals. Recovery without reconciliation is dangerous; recovery without measurement is just noise.</a:t>
            </a:r>
            <a:endParaRPr lang="en-US" sz="1300" dirty="0"/>
          </a:p>
        </p:txBody>
      </p:sp>
      <p:sp>
        <p:nvSpPr>
          <p:cNvPr id="8" name="Shape 6"/>
          <p:cNvSpPr/>
          <p:nvPr/>
        </p:nvSpPr>
        <p:spPr>
          <a:xfrm>
            <a:off x="777240" y="4526280"/>
            <a:ext cx="7680960" cy="1554480"/>
          </a:xfrm>
          <a:prstGeom prst="roundRect">
            <a:avLst>
              <a:gd name="adj" fmla="val 8235"/>
            </a:avLst>
          </a:prstGeom>
          <a:solidFill>
            <a:srgbClr val="F0603A"/>
          </a:solidFill>
          <a:ln/>
        </p:spPr>
        <p:txBody>
          <a:bodyPr/>
          <a:lstStyle/>
          <a:p>
            <a:endParaRPr lang="en-IN"/>
          </a:p>
        </p:txBody>
      </p:sp>
      <p:sp>
        <p:nvSpPr>
          <p:cNvPr id="9" name="Text 7"/>
          <p:cNvSpPr txBox="1"/>
          <p:nvPr/>
        </p:nvSpPr>
        <p:spPr>
          <a:xfrm>
            <a:off x="1051560" y="4526280"/>
            <a:ext cx="7132320" cy="1554480"/>
          </a:xfrm>
          <a:prstGeom prst="rect">
            <a:avLst/>
          </a:prstGeom>
          <a:noFill/>
          <a:ln/>
        </p:spPr>
        <p:txBody>
          <a:bodyPr wrap="square" lIns="0" tIns="0" rIns="0" bIns="0" rtlCol="0" anchor="ctr"/>
          <a:lstStyle/>
          <a:p>
            <a:pPr marL="0" indent="0" algn="ctr">
              <a:buNone/>
            </a:pPr>
            <a:r>
              <a:rPr lang="en-US" sz="2600" dirty="0">
                <a:solidFill>
                  <a:srgbClr val="EFE6D3"/>
                </a:solidFill>
                <a:latin typeface="Archivo Black" pitchFamily="34" charset="0"/>
                <a:ea typeface="Archivo Black" pitchFamily="34" charset="-122"/>
                <a:cs typeface="Archivo Black" pitchFamily="34" charset="-120"/>
              </a:rPr>
              <a:t>“Recovery without proof is just noise.”</a:t>
            </a:r>
            <a:endParaRPr lang="en-US" sz="2600" dirty="0"/>
          </a:p>
        </p:txBody>
      </p:sp>
      <p:sp>
        <p:nvSpPr>
          <p:cNvPr id="10" name="Text 8"/>
          <p:cNvSpPr txBox="1"/>
          <p:nvPr/>
        </p:nvSpPr>
        <p:spPr>
          <a:xfrm>
            <a:off x="9311335" y="1280160"/>
            <a:ext cx="2468880" cy="274320"/>
          </a:xfrm>
          <a:prstGeom prst="rect">
            <a:avLst/>
          </a:prstGeom>
          <a:noFill/>
          <a:ln/>
        </p:spPr>
        <p:txBody>
          <a:bodyPr wrap="square" rtlCol="0" anchor="ctr"/>
          <a:lstStyle/>
          <a:p>
            <a:pPr marL="0" indent="0">
              <a:buNone/>
            </a:pPr>
            <a:r>
              <a:rPr lang="en-US" sz="1100" kern="0" spc="200" dirty="0">
                <a:solidFill>
                  <a:srgbClr val="121712"/>
                </a:solidFill>
                <a:latin typeface="Poppins ExtraBold" pitchFamily="34" charset="0"/>
                <a:ea typeface="Poppins ExtraBold" pitchFamily="34" charset="-122"/>
                <a:cs typeface="Poppins ExtraBold" pitchFamily="34" charset="-120"/>
              </a:rPr>
              <a:t>AT A GLANCE</a:t>
            </a:r>
            <a:endParaRPr lang="en-US" sz="1100" dirty="0"/>
          </a:p>
        </p:txBody>
      </p:sp>
      <p:sp>
        <p:nvSpPr>
          <p:cNvPr id="11" name="Text 9"/>
          <p:cNvSpPr txBox="1"/>
          <p:nvPr/>
        </p:nvSpPr>
        <p:spPr>
          <a:xfrm>
            <a:off x="9311335" y="1828800"/>
            <a:ext cx="2468880" cy="274320"/>
          </a:xfrm>
          <a:prstGeom prst="rect">
            <a:avLst/>
          </a:prstGeom>
          <a:noFill/>
          <a:ln/>
        </p:spPr>
        <p:txBody>
          <a:bodyPr wrap="square" lIns="0" tIns="0" rIns="0" bIns="0" rtlCol="0" anchor="ctr"/>
          <a:lstStyle/>
          <a:p>
            <a:pPr marL="0" indent="0">
              <a:buNone/>
            </a:pPr>
            <a:r>
              <a:rPr lang="en-US" sz="1200" dirty="0">
                <a:solidFill>
                  <a:srgbClr val="121712"/>
                </a:solidFill>
                <a:latin typeface="Poppins ExtraBold" pitchFamily="34" charset="0"/>
                <a:ea typeface="Poppins ExtraBold" pitchFamily="34" charset="-122"/>
                <a:cs typeface="Poppins ExtraBold" pitchFamily="34" charset="-120"/>
              </a:rPr>
              <a:t>01 / Blind Retries</a:t>
            </a:r>
            <a:endParaRPr lang="en-US" sz="1200" dirty="0"/>
          </a:p>
        </p:txBody>
      </p:sp>
      <p:sp>
        <p:nvSpPr>
          <p:cNvPr id="12" name="Text 10"/>
          <p:cNvSpPr txBox="1"/>
          <p:nvPr/>
        </p:nvSpPr>
        <p:spPr>
          <a:xfrm>
            <a:off x="9311335" y="2121408"/>
            <a:ext cx="2468880" cy="914400"/>
          </a:xfrm>
          <a:prstGeom prst="rect">
            <a:avLst/>
          </a:prstGeom>
          <a:noFill/>
          <a:ln/>
        </p:spPr>
        <p:txBody>
          <a:bodyPr wrap="square" lIns="0" tIns="0" rIns="0" bIns="0" rtlCol="0" anchor="ctr"/>
          <a:lstStyle/>
          <a:p>
            <a:pPr marL="0" indent="0">
              <a:lnSpc>
                <a:spcPts val="1400"/>
              </a:lnSpc>
              <a:buNone/>
            </a:pPr>
            <a:r>
              <a:rPr lang="en-US" sz="1100" dirty="0">
                <a:solidFill>
                  <a:srgbClr val="3A2A55"/>
                </a:solidFill>
                <a:latin typeface="Poppins Medium" pitchFamily="34" charset="0"/>
                <a:ea typeface="Poppins Medium" pitchFamily="34" charset="-122"/>
                <a:cs typeface="Poppins Medium" pitchFamily="34" charset="-120"/>
              </a:rPr>
              <a:t>Double charges and customer friction caused by stale data.</a:t>
            </a:r>
            <a:endParaRPr lang="en-US" sz="1100" dirty="0"/>
          </a:p>
        </p:txBody>
      </p:sp>
      <p:sp>
        <p:nvSpPr>
          <p:cNvPr id="13" name="Text 11"/>
          <p:cNvSpPr txBox="1"/>
          <p:nvPr/>
        </p:nvSpPr>
        <p:spPr>
          <a:xfrm>
            <a:off x="9311335" y="3063240"/>
            <a:ext cx="2468880" cy="274320"/>
          </a:xfrm>
          <a:prstGeom prst="rect">
            <a:avLst/>
          </a:prstGeom>
          <a:noFill/>
          <a:ln/>
        </p:spPr>
        <p:txBody>
          <a:bodyPr wrap="square" lIns="0" tIns="0" rIns="0" bIns="0" rtlCol="0" anchor="ctr"/>
          <a:lstStyle/>
          <a:p>
            <a:pPr marL="0" indent="0">
              <a:buNone/>
            </a:pPr>
            <a:r>
              <a:rPr lang="en-US" sz="1200" dirty="0">
                <a:solidFill>
                  <a:srgbClr val="121712"/>
                </a:solidFill>
                <a:latin typeface="Poppins ExtraBold" pitchFamily="34" charset="0"/>
                <a:ea typeface="Poppins ExtraBold" pitchFamily="34" charset="-122"/>
                <a:cs typeface="Poppins ExtraBold" pitchFamily="34" charset="-120"/>
              </a:rPr>
              <a:t>02 / Dark Patterns</a:t>
            </a:r>
            <a:endParaRPr lang="en-US" sz="1200" dirty="0"/>
          </a:p>
        </p:txBody>
      </p:sp>
      <p:sp>
        <p:nvSpPr>
          <p:cNvPr id="14" name="Text 12"/>
          <p:cNvSpPr txBox="1"/>
          <p:nvPr/>
        </p:nvSpPr>
        <p:spPr>
          <a:xfrm>
            <a:off x="9311335" y="3355848"/>
            <a:ext cx="2468880" cy="914400"/>
          </a:xfrm>
          <a:prstGeom prst="rect">
            <a:avLst/>
          </a:prstGeom>
          <a:noFill/>
          <a:ln/>
        </p:spPr>
        <p:txBody>
          <a:bodyPr wrap="square" lIns="0" tIns="0" rIns="0" bIns="0" rtlCol="0" anchor="ctr"/>
          <a:lstStyle/>
          <a:p>
            <a:pPr marL="0" indent="0">
              <a:lnSpc>
                <a:spcPts val="1400"/>
              </a:lnSpc>
              <a:buNone/>
            </a:pPr>
            <a:r>
              <a:rPr lang="en-US" sz="1100" dirty="0">
                <a:solidFill>
                  <a:srgbClr val="3A2A55"/>
                </a:solidFill>
                <a:latin typeface="Poppins Medium" pitchFamily="34" charset="0"/>
                <a:ea typeface="Poppins Medium" pitchFamily="34" charset="-122"/>
                <a:cs typeface="Poppins Medium" pitchFamily="34" charset="-120"/>
              </a:rPr>
              <a:t>Aggressive dunning that damages long-term brand trust.</a:t>
            </a:r>
            <a:endParaRPr lang="en-US" sz="1100" dirty="0"/>
          </a:p>
        </p:txBody>
      </p:sp>
      <p:sp>
        <p:nvSpPr>
          <p:cNvPr id="15" name="Text 13"/>
          <p:cNvSpPr txBox="1"/>
          <p:nvPr/>
        </p:nvSpPr>
        <p:spPr>
          <a:xfrm>
            <a:off x="9311335" y="4297680"/>
            <a:ext cx="2468880" cy="274320"/>
          </a:xfrm>
          <a:prstGeom prst="rect">
            <a:avLst/>
          </a:prstGeom>
          <a:noFill/>
          <a:ln/>
        </p:spPr>
        <p:txBody>
          <a:bodyPr wrap="square" lIns="0" tIns="0" rIns="0" bIns="0" rtlCol="0" anchor="ctr"/>
          <a:lstStyle/>
          <a:p>
            <a:pPr marL="0" indent="0">
              <a:buNone/>
            </a:pPr>
            <a:r>
              <a:rPr lang="en-US" sz="1200" dirty="0">
                <a:solidFill>
                  <a:srgbClr val="121712"/>
                </a:solidFill>
                <a:latin typeface="Poppins ExtraBold" pitchFamily="34" charset="0"/>
                <a:ea typeface="Poppins ExtraBold" pitchFamily="34" charset="-122"/>
                <a:cs typeface="Poppins ExtraBold" pitchFamily="34" charset="-120"/>
              </a:rPr>
              <a:t>03 / No Proof</a:t>
            </a:r>
            <a:endParaRPr lang="en-US" sz="1200" dirty="0"/>
          </a:p>
        </p:txBody>
      </p:sp>
      <p:sp>
        <p:nvSpPr>
          <p:cNvPr id="16" name="Text 14"/>
          <p:cNvSpPr txBox="1"/>
          <p:nvPr/>
        </p:nvSpPr>
        <p:spPr>
          <a:xfrm>
            <a:off x="9311335" y="4590288"/>
            <a:ext cx="2468880" cy="914400"/>
          </a:xfrm>
          <a:prstGeom prst="rect">
            <a:avLst/>
          </a:prstGeom>
          <a:noFill/>
          <a:ln/>
        </p:spPr>
        <p:txBody>
          <a:bodyPr wrap="square" lIns="0" tIns="0" rIns="0" bIns="0" rtlCol="0" anchor="ctr"/>
          <a:lstStyle/>
          <a:p>
            <a:pPr marL="0" indent="0">
              <a:lnSpc>
                <a:spcPts val="1400"/>
              </a:lnSpc>
              <a:buNone/>
            </a:pPr>
            <a:r>
              <a:rPr lang="en-US" sz="1100" dirty="0">
                <a:solidFill>
                  <a:srgbClr val="3A2A55"/>
                </a:solidFill>
                <a:latin typeface="Poppins Medium" pitchFamily="34" charset="0"/>
                <a:ea typeface="Poppins Medium" pitchFamily="34" charset="-122"/>
                <a:cs typeface="Poppins Medium" pitchFamily="34" charset="-120"/>
              </a:rPr>
              <a:t>No way to separate incremental from organic recovery.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T H E   S H I F T</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1C5A54"/>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747256"/>
            <a:ext cx="10607040" cy="914400"/>
          </a:xfrm>
          <a:prstGeom prst="rect">
            <a:avLst/>
          </a:prstGeom>
          <a:noFill/>
          <a:ln/>
        </p:spPr>
        <p:txBody>
          <a:bodyPr wrap="square" lIns="0" tIns="0" rIns="0" bIns="0" rtlCol="0" anchor="ctr"/>
          <a:lstStyle/>
          <a:p>
            <a:pPr marL="0" indent="0">
              <a:buNone/>
            </a:pPr>
            <a:r>
              <a:rPr lang="en-US" sz="4000" dirty="0">
                <a:solidFill>
                  <a:srgbClr val="121712"/>
                </a:solidFill>
                <a:latin typeface="Archivo Black" pitchFamily="34" charset="0"/>
                <a:ea typeface="Archivo Black" pitchFamily="34" charset="-122"/>
                <a:cs typeface="Archivo Black" pitchFamily="34" charset="-120"/>
              </a:rPr>
              <a:t>From guesswork to proof.</a:t>
            </a:r>
            <a:endParaRPr lang="en-US" sz="4000" dirty="0"/>
          </a:p>
        </p:txBody>
      </p:sp>
      <p:sp>
        <p:nvSpPr>
          <p:cNvPr id="5" name="Text 3"/>
          <p:cNvSpPr txBox="1"/>
          <p:nvPr/>
        </p:nvSpPr>
        <p:spPr>
          <a:xfrm>
            <a:off x="777240" y="1641992"/>
            <a:ext cx="10607040" cy="2377440"/>
          </a:xfrm>
          <a:prstGeom prst="rect">
            <a:avLst/>
          </a:prstGeom>
          <a:noFill/>
          <a:ln/>
        </p:spPr>
        <p:txBody>
          <a:bodyPr wrap="square" lIns="0" tIns="0" rIns="0" bIns="0" rtlCol="0" anchor="t"/>
          <a:lstStyle/>
          <a:p>
            <a:pPr marL="0" indent="0">
              <a:lnSpc>
                <a:spcPts val="1900"/>
              </a:lnSpc>
              <a:buNone/>
            </a:pPr>
            <a:r>
              <a:rPr lang="en-US" sz="1350" dirty="0">
                <a:solidFill>
                  <a:srgbClr val="1C5A54"/>
                </a:solidFill>
                <a:latin typeface="Poppins Medium" pitchFamily="34" charset="0"/>
                <a:ea typeface="Poppins Medium" pitchFamily="34" charset="-122"/>
                <a:cs typeface="Poppins Medium" pitchFamily="34" charset="-120"/>
              </a:rPr>
              <a:t>The difference is not a nicer dashboard — it is a fundamentally safer operating model. On the left is how recovery works today: fast, blind, and impossible to trust. On the right is ReOS: every action is checked against live state first, every message is screened for manipulation, and every recovered rupee is a verified capture that survives refunds and disputes.</a:t>
            </a:r>
            <a:endParaRPr lang="en-US" sz="1350" dirty="0"/>
          </a:p>
        </p:txBody>
      </p:sp>
      <p:pic>
        <p:nvPicPr>
          <p:cNvPr id="6" name="Image 0" descr="d_beforeafter.png"/>
          <p:cNvPicPr>
            <a:picLocks noChangeAspect="1"/>
          </p:cNvPicPr>
          <p:nvPr/>
        </p:nvPicPr>
        <p:blipFill>
          <a:blip r:embed="rId4"/>
          <a:stretch>
            <a:fillRect/>
          </a:stretch>
        </p:blipFill>
        <p:spPr>
          <a:xfrm>
            <a:off x="777240" y="2526890"/>
            <a:ext cx="10607040" cy="43311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T H E   S O L U T I O N</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1C5A54"/>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4297680" y="914400"/>
            <a:ext cx="7498080" cy="868680"/>
          </a:xfrm>
          <a:prstGeom prst="rect">
            <a:avLst/>
          </a:prstGeom>
          <a:noFill/>
          <a:ln/>
        </p:spPr>
        <p:txBody>
          <a:bodyPr wrap="square" lIns="0" tIns="0" rIns="0" bIns="0" rtlCol="0" anchor="ctr"/>
          <a:lstStyle/>
          <a:p>
            <a:pPr marL="0" indent="0">
              <a:buNone/>
            </a:pPr>
            <a:r>
              <a:rPr lang="en-US" sz="4400" dirty="0">
                <a:solidFill>
                  <a:srgbClr val="121712"/>
                </a:solidFill>
                <a:latin typeface="Archivo Black" pitchFamily="34" charset="0"/>
                <a:ea typeface="Archivo Black" pitchFamily="34" charset="-122"/>
                <a:cs typeface="Archivo Black" pitchFamily="34" charset="-120"/>
              </a:rPr>
              <a:t>A control plane</a:t>
            </a:r>
            <a:endParaRPr lang="en-US" sz="4400" dirty="0"/>
          </a:p>
        </p:txBody>
      </p:sp>
      <p:sp>
        <p:nvSpPr>
          <p:cNvPr id="5" name="Text 3"/>
          <p:cNvSpPr txBox="1"/>
          <p:nvPr/>
        </p:nvSpPr>
        <p:spPr>
          <a:xfrm>
            <a:off x="4297680" y="1645920"/>
            <a:ext cx="7315200" cy="868680"/>
          </a:xfrm>
          <a:prstGeom prst="rect">
            <a:avLst/>
          </a:prstGeom>
          <a:noFill/>
          <a:ln/>
        </p:spPr>
        <p:txBody>
          <a:bodyPr wrap="square" lIns="0" tIns="0" rIns="0" bIns="0" rtlCol="0" anchor="ctr"/>
          <a:lstStyle/>
          <a:p>
            <a:pPr marL="0" indent="0">
              <a:buNone/>
            </a:pPr>
            <a:r>
              <a:rPr lang="en-US" sz="4400" dirty="0">
                <a:solidFill>
                  <a:srgbClr val="121712"/>
                </a:solidFill>
                <a:latin typeface="Archivo Black" pitchFamily="34" charset="0"/>
                <a:ea typeface="Archivo Black" pitchFamily="34" charset="-122"/>
                <a:cs typeface="Archivo Black" pitchFamily="34" charset="-120"/>
              </a:rPr>
              <a:t>for recovery.</a:t>
            </a:r>
            <a:endParaRPr lang="en-US" sz="4400" dirty="0"/>
          </a:p>
        </p:txBody>
      </p:sp>
      <p:sp>
        <p:nvSpPr>
          <p:cNvPr id="6" name="Text 4"/>
          <p:cNvSpPr txBox="1"/>
          <p:nvPr/>
        </p:nvSpPr>
        <p:spPr>
          <a:xfrm>
            <a:off x="4297680" y="2651760"/>
            <a:ext cx="7223760" cy="1463037"/>
          </a:xfrm>
          <a:prstGeom prst="rect">
            <a:avLst/>
          </a:prstGeom>
          <a:noFill/>
          <a:ln/>
        </p:spPr>
        <p:txBody>
          <a:bodyPr wrap="square" lIns="0" tIns="0" rIns="0" bIns="0" rtlCol="0" anchor="t"/>
          <a:lstStyle/>
          <a:p>
            <a:pPr marL="0" indent="0">
              <a:lnSpc>
                <a:spcPts val="1900"/>
              </a:lnSpc>
              <a:buNone/>
            </a:pPr>
            <a:r>
              <a:rPr lang="en-US" sz="1300" dirty="0">
                <a:solidFill>
                  <a:srgbClr val="1C5A54"/>
                </a:solidFill>
                <a:latin typeface="Poppins Medium" pitchFamily="34" charset="0"/>
                <a:ea typeface="Poppins Medium" pitchFamily="34" charset="-122"/>
                <a:cs typeface="Poppins Medium" pitchFamily="34" charset="-120"/>
              </a:rPr>
              <a:t>ReOS is a desktop operations console — not a chatbot. It sits above all four leakage surfaces as a single control plane. Every at-risk event becomes one normalized “case.” The system detects the risk, reconciles it against Razorpay’s live state, chooses exactly one bounded action, and records the outcome in an append-only ledger. The operator sees the whole story on one screen: what happened, why the system chose what it did, and whether real money actually came back.</a:t>
            </a:r>
          </a:p>
          <a:p>
            <a:pPr marL="0" indent="0">
              <a:lnSpc>
                <a:spcPts val="1900"/>
              </a:lnSpc>
              <a:buNone/>
            </a:pPr>
            <a:endParaRPr lang="en-US" sz="1300" dirty="0"/>
          </a:p>
        </p:txBody>
      </p:sp>
      <p:sp>
        <p:nvSpPr>
          <p:cNvPr id="7" name="Shape 5"/>
          <p:cNvSpPr/>
          <p:nvPr/>
        </p:nvSpPr>
        <p:spPr>
          <a:xfrm>
            <a:off x="713232" y="1124712"/>
            <a:ext cx="3328416" cy="2048256"/>
          </a:xfrm>
          <a:prstGeom prst="roundRect">
            <a:avLst>
              <a:gd name="adj" fmla="val 5357"/>
            </a:avLst>
          </a:prstGeom>
          <a:solidFill>
            <a:srgbClr val="FFFFFF"/>
          </a:solidFill>
          <a:ln/>
          <a:effectLst>
            <a:outerShdw blurRad="177800" dist="63500" dir="5400000" algn="bl" rotWithShape="0">
              <a:srgbClr val="202020">
                <a:alpha val="22000"/>
              </a:srgbClr>
            </a:outerShdw>
          </a:effectLst>
        </p:spPr>
        <p:txBody>
          <a:bodyPr/>
          <a:lstStyle/>
          <a:p>
            <a:endParaRPr lang="en-IN"/>
          </a:p>
        </p:txBody>
      </p:sp>
      <p:pic>
        <p:nvPicPr>
          <p:cNvPr id="8" name="Image 0" descr="r_overview.png"/>
          <p:cNvPicPr>
            <a:picLocks noChangeAspect="1"/>
          </p:cNvPicPr>
          <p:nvPr/>
        </p:nvPicPr>
        <p:blipFill>
          <a:blip r:embed="rId4"/>
          <a:stretch>
            <a:fillRect/>
          </a:stretch>
        </p:blipFill>
        <p:spPr>
          <a:xfrm>
            <a:off x="777240" y="1188720"/>
            <a:ext cx="3200400" cy="1920240"/>
          </a:xfrm>
          <a:prstGeom prst="rect">
            <a:avLst/>
          </a:prstGeom>
        </p:spPr>
      </p:pic>
      <p:sp>
        <p:nvSpPr>
          <p:cNvPr id="9" name="Text 6"/>
          <p:cNvSpPr txBox="1"/>
          <p:nvPr/>
        </p:nvSpPr>
        <p:spPr>
          <a:xfrm>
            <a:off x="4297680" y="4389123"/>
            <a:ext cx="2331720" cy="274320"/>
          </a:xfrm>
          <a:prstGeom prst="rect">
            <a:avLst/>
          </a:prstGeom>
          <a:noFill/>
          <a:ln/>
        </p:spPr>
        <p:txBody>
          <a:bodyPr wrap="square" lIns="0" tIns="0" rIns="0" bIns="0" rtlCol="0" anchor="ctr"/>
          <a:lstStyle/>
          <a:p>
            <a:pPr marL="0" indent="0">
              <a:buNone/>
            </a:pPr>
            <a:r>
              <a:rPr lang="en-US" sz="1150" dirty="0">
                <a:solidFill>
                  <a:srgbClr val="1C5A54"/>
                </a:solidFill>
                <a:latin typeface="Poppins ExtraBold" pitchFamily="34" charset="0"/>
                <a:ea typeface="Poppins ExtraBold" pitchFamily="34" charset="-122"/>
                <a:cs typeface="Poppins ExtraBold" pitchFamily="34" charset="-120"/>
              </a:rPr>
              <a:t>01 / DETECT</a:t>
            </a:r>
            <a:endParaRPr lang="en-US" sz="1150" dirty="0"/>
          </a:p>
        </p:txBody>
      </p:sp>
      <p:sp>
        <p:nvSpPr>
          <p:cNvPr id="10" name="Shape 7"/>
          <p:cNvSpPr/>
          <p:nvPr/>
        </p:nvSpPr>
        <p:spPr>
          <a:xfrm>
            <a:off x="4297680" y="4736199"/>
            <a:ext cx="457200" cy="0"/>
          </a:xfrm>
          <a:prstGeom prst="line">
            <a:avLst/>
          </a:prstGeom>
          <a:noFill/>
          <a:ln w="25400">
            <a:solidFill>
              <a:srgbClr val="1C5A54"/>
            </a:solidFill>
            <a:prstDash val="solid"/>
          </a:ln>
        </p:spPr>
        <p:txBody>
          <a:bodyPr/>
          <a:lstStyle/>
          <a:p>
            <a:endParaRPr lang="en-IN"/>
          </a:p>
        </p:txBody>
      </p:sp>
      <p:sp>
        <p:nvSpPr>
          <p:cNvPr id="11" name="Text 8"/>
          <p:cNvSpPr txBox="1"/>
          <p:nvPr/>
        </p:nvSpPr>
        <p:spPr>
          <a:xfrm>
            <a:off x="4297680" y="4572000"/>
            <a:ext cx="2331720" cy="914400"/>
          </a:xfrm>
          <a:prstGeom prst="rect">
            <a:avLst/>
          </a:prstGeom>
          <a:noFill/>
          <a:ln/>
        </p:spPr>
        <p:txBody>
          <a:bodyPr wrap="square" lIns="0" tIns="0" rIns="0" bIns="0" rtlCol="0" anchor="ctr"/>
          <a:lstStyle/>
          <a:p>
            <a:pPr marL="0" indent="0">
              <a:lnSpc>
                <a:spcPts val="1400"/>
              </a:lnSpc>
              <a:buNone/>
            </a:pPr>
            <a:r>
              <a:rPr lang="en-US" sz="1100" dirty="0">
                <a:solidFill>
                  <a:srgbClr val="121712"/>
                </a:solidFill>
                <a:latin typeface="Poppins Medium" pitchFamily="34" charset="0"/>
                <a:ea typeface="Poppins Medium" pitchFamily="34" charset="-122"/>
                <a:cs typeface="Poppins Medium" pitchFamily="34" charset="-120"/>
              </a:rPr>
              <a:t>Real-time monitoring of payment and subscription risk.</a:t>
            </a:r>
            <a:endParaRPr lang="en-US" sz="1100" dirty="0"/>
          </a:p>
        </p:txBody>
      </p:sp>
      <p:sp>
        <p:nvSpPr>
          <p:cNvPr id="12" name="Text 9"/>
          <p:cNvSpPr txBox="1"/>
          <p:nvPr/>
        </p:nvSpPr>
        <p:spPr>
          <a:xfrm>
            <a:off x="6949440" y="4409279"/>
            <a:ext cx="2331720" cy="274320"/>
          </a:xfrm>
          <a:prstGeom prst="rect">
            <a:avLst/>
          </a:prstGeom>
          <a:noFill/>
          <a:ln/>
        </p:spPr>
        <p:txBody>
          <a:bodyPr wrap="square" lIns="0" tIns="0" rIns="0" bIns="0" rtlCol="0" anchor="ctr"/>
          <a:lstStyle/>
          <a:p>
            <a:pPr marL="0" indent="0">
              <a:buNone/>
            </a:pPr>
            <a:r>
              <a:rPr lang="en-US" sz="1150" dirty="0">
                <a:solidFill>
                  <a:srgbClr val="1C5A54"/>
                </a:solidFill>
                <a:latin typeface="Poppins ExtraBold" pitchFamily="34" charset="0"/>
                <a:ea typeface="Poppins ExtraBold" pitchFamily="34" charset="-122"/>
                <a:cs typeface="Poppins ExtraBold" pitchFamily="34" charset="-120"/>
              </a:rPr>
              <a:t>02 / RECONCILE</a:t>
            </a:r>
            <a:endParaRPr lang="en-US" sz="1150" dirty="0"/>
          </a:p>
        </p:txBody>
      </p:sp>
      <p:sp>
        <p:nvSpPr>
          <p:cNvPr id="13" name="Shape 10"/>
          <p:cNvSpPr/>
          <p:nvPr/>
        </p:nvSpPr>
        <p:spPr>
          <a:xfrm>
            <a:off x="6949440" y="4736199"/>
            <a:ext cx="457200" cy="0"/>
          </a:xfrm>
          <a:prstGeom prst="line">
            <a:avLst/>
          </a:prstGeom>
          <a:noFill/>
          <a:ln w="25400">
            <a:solidFill>
              <a:srgbClr val="1C5A54"/>
            </a:solidFill>
            <a:prstDash val="solid"/>
          </a:ln>
        </p:spPr>
        <p:txBody>
          <a:bodyPr/>
          <a:lstStyle/>
          <a:p>
            <a:endParaRPr lang="en-IN" dirty="0"/>
          </a:p>
        </p:txBody>
      </p:sp>
      <p:sp>
        <p:nvSpPr>
          <p:cNvPr id="14" name="Text 11"/>
          <p:cNvSpPr txBox="1"/>
          <p:nvPr/>
        </p:nvSpPr>
        <p:spPr>
          <a:xfrm>
            <a:off x="6949440" y="4617720"/>
            <a:ext cx="2331720" cy="914400"/>
          </a:xfrm>
          <a:prstGeom prst="rect">
            <a:avLst/>
          </a:prstGeom>
          <a:noFill/>
          <a:ln/>
        </p:spPr>
        <p:txBody>
          <a:bodyPr wrap="square" lIns="0" tIns="0" rIns="0" bIns="0" rtlCol="0" anchor="ctr"/>
          <a:lstStyle/>
          <a:p>
            <a:pPr marL="0" indent="0">
              <a:lnSpc>
                <a:spcPts val="1400"/>
              </a:lnSpc>
              <a:buNone/>
            </a:pPr>
            <a:r>
              <a:rPr lang="en-US" sz="1100" dirty="0">
                <a:solidFill>
                  <a:srgbClr val="121712"/>
                </a:solidFill>
                <a:latin typeface="Poppins Medium" pitchFamily="34" charset="0"/>
                <a:ea typeface="Poppins Medium" pitchFamily="34" charset="-122"/>
                <a:cs typeface="Poppins Medium" pitchFamily="34" charset="-120"/>
              </a:rPr>
              <a:t>Verify live state before any action is taken.</a:t>
            </a:r>
            <a:endParaRPr lang="en-US" sz="1100" dirty="0"/>
          </a:p>
        </p:txBody>
      </p:sp>
      <p:sp>
        <p:nvSpPr>
          <p:cNvPr id="15" name="Text 12"/>
          <p:cNvSpPr txBox="1"/>
          <p:nvPr/>
        </p:nvSpPr>
        <p:spPr>
          <a:xfrm>
            <a:off x="9601200" y="4379037"/>
            <a:ext cx="2331720" cy="274320"/>
          </a:xfrm>
          <a:prstGeom prst="rect">
            <a:avLst/>
          </a:prstGeom>
          <a:noFill/>
          <a:ln/>
        </p:spPr>
        <p:txBody>
          <a:bodyPr wrap="square" lIns="0" tIns="0" rIns="0" bIns="0" rtlCol="0" anchor="ctr"/>
          <a:lstStyle/>
          <a:p>
            <a:pPr marL="0" indent="0">
              <a:buNone/>
            </a:pPr>
            <a:r>
              <a:rPr lang="en-US" sz="1150" dirty="0">
                <a:solidFill>
                  <a:srgbClr val="1C5A54"/>
                </a:solidFill>
                <a:latin typeface="Poppins ExtraBold" pitchFamily="34" charset="0"/>
                <a:ea typeface="Poppins ExtraBold" pitchFamily="34" charset="-122"/>
                <a:cs typeface="Poppins ExtraBold" pitchFamily="34" charset="-120"/>
              </a:rPr>
              <a:t>03 / PROVE</a:t>
            </a:r>
            <a:endParaRPr lang="en-US" sz="1150" dirty="0"/>
          </a:p>
        </p:txBody>
      </p:sp>
      <p:sp>
        <p:nvSpPr>
          <p:cNvPr id="16" name="Shape 13"/>
          <p:cNvSpPr/>
          <p:nvPr/>
        </p:nvSpPr>
        <p:spPr>
          <a:xfrm>
            <a:off x="9601200" y="4683599"/>
            <a:ext cx="457200" cy="0"/>
          </a:xfrm>
          <a:prstGeom prst="line">
            <a:avLst/>
          </a:prstGeom>
          <a:noFill/>
          <a:ln w="25400">
            <a:solidFill>
              <a:srgbClr val="1C5A54"/>
            </a:solidFill>
            <a:prstDash val="solid"/>
          </a:ln>
        </p:spPr>
        <p:txBody>
          <a:bodyPr/>
          <a:lstStyle/>
          <a:p>
            <a:endParaRPr lang="en-IN"/>
          </a:p>
        </p:txBody>
      </p:sp>
      <p:sp>
        <p:nvSpPr>
          <p:cNvPr id="17" name="Text 14"/>
          <p:cNvSpPr txBox="1"/>
          <p:nvPr/>
        </p:nvSpPr>
        <p:spPr>
          <a:xfrm>
            <a:off x="9601200" y="4572000"/>
            <a:ext cx="2331720" cy="914400"/>
          </a:xfrm>
          <a:prstGeom prst="rect">
            <a:avLst/>
          </a:prstGeom>
          <a:noFill/>
          <a:ln/>
        </p:spPr>
        <p:txBody>
          <a:bodyPr wrap="square" lIns="0" tIns="0" rIns="0" bIns="0" rtlCol="0" anchor="ctr"/>
          <a:lstStyle/>
          <a:p>
            <a:pPr marL="0" indent="0">
              <a:lnSpc>
                <a:spcPts val="1400"/>
              </a:lnSpc>
              <a:buNone/>
            </a:pPr>
            <a:r>
              <a:rPr lang="en-US" sz="1100" dirty="0">
                <a:solidFill>
                  <a:srgbClr val="121712"/>
                </a:solidFill>
                <a:latin typeface="Poppins Medium" pitchFamily="34" charset="0"/>
                <a:ea typeface="Poppins Medium" pitchFamily="34" charset="-122"/>
                <a:cs typeface="Poppins Medium" pitchFamily="34" charset="-120"/>
              </a:rPr>
              <a:t>Transparent ledger of every recovery and its value.</a:t>
            </a:r>
            <a:endParaRPr lang="en-US" sz="1100" dirty="0"/>
          </a:p>
        </p:txBody>
      </p:sp>
      <p:sp>
        <p:nvSpPr>
          <p:cNvPr id="18" name="Shape 15"/>
          <p:cNvSpPr/>
          <p:nvPr/>
        </p:nvSpPr>
        <p:spPr>
          <a:xfrm>
            <a:off x="6131288" y="5674343"/>
            <a:ext cx="3156509" cy="402336"/>
          </a:xfrm>
          <a:prstGeom prst="roundRect">
            <a:avLst>
              <a:gd name="adj" fmla="val 50000"/>
            </a:avLst>
          </a:prstGeom>
          <a:solidFill>
            <a:srgbClr val="0F3D3A"/>
          </a:solidFill>
          <a:ln/>
        </p:spPr>
        <p:txBody>
          <a:bodyPr/>
          <a:lstStyle/>
          <a:p>
            <a:endParaRPr lang="en-IN"/>
          </a:p>
        </p:txBody>
      </p:sp>
      <p:sp>
        <p:nvSpPr>
          <p:cNvPr id="19" name="Text 16"/>
          <p:cNvSpPr txBox="1"/>
          <p:nvPr/>
        </p:nvSpPr>
        <p:spPr>
          <a:xfrm>
            <a:off x="6131287" y="5674343"/>
            <a:ext cx="3156509" cy="402336"/>
          </a:xfrm>
          <a:prstGeom prst="rect">
            <a:avLst/>
          </a:prstGeom>
          <a:noFill/>
          <a:ln/>
        </p:spPr>
        <p:txBody>
          <a:bodyPr wrap="square" lIns="0" tIns="0" rIns="0" bIns="0" rtlCol="0" anchor="ctr"/>
          <a:lstStyle/>
          <a:p>
            <a:pPr marL="0" indent="0" algn="ctr">
              <a:buNone/>
            </a:pPr>
            <a:r>
              <a:rPr lang="en-US" sz="1000" kern="0" spc="100" dirty="0">
                <a:solidFill>
                  <a:srgbClr val="EFE6D3"/>
                </a:solidFill>
                <a:latin typeface="Poppins SemiBold" pitchFamily="34" charset="0"/>
                <a:ea typeface="Poppins SemiBold" pitchFamily="34" charset="-122"/>
                <a:cs typeface="Poppins SemiBold" pitchFamily="34" charset="-120"/>
              </a:rPr>
              <a:t>  DETECT → RECONCILE → ACT → PROVE  </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T H E   E N G I N E</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31520" y="1188720"/>
            <a:ext cx="3657600" cy="2011680"/>
          </a:xfrm>
          <a:prstGeom prst="rect">
            <a:avLst/>
          </a:prstGeom>
          <a:noFill/>
          <a:ln/>
        </p:spPr>
        <p:txBody>
          <a:bodyPr wrap="square" lIns="0" tIns="0" rIns="0" bIns="0" rtlCol="0" anchor="ctr"/>
          <a:lstStyle/>
          <a:p>
            <a:pPr marL="0" indent="0">
              <a:buNone/>
            </a:pPr>
            <a:r>
              <a:rPr lang="en-US" sz="15000" dirty="0">
                <a:solidFill>
                  <a:srgbClr val="1E4F47"/>
                </a:solidFill>
                <a:latin typeface="Archivo Black" pitchFamily="34" charset="0"/>
                <a:ea typeface="Archivo Black" pitchFamily="34" charset="-122"/>
                <a:cs typeface="Archivo Black" pitchFamily="34" charset="-120"/>
              </a:rPr>
              <a:t>01</a:t>
            </a:r>
            <a:endParaRPr lang="en-US" sz="15000" dirty="0"/>
          </a:p>
        </p:txBody>
      </p:sp>
      <p:sp>
        <p:nvSpPr>
          <p:cNvPr id="5" name="Text 3"/>
          <p:cNvSpPr txBox="1"/>
          <p:nvPr/>
        </p:nvSpPr>
        <p:spPr>
          <a:xfrm>
            <a:off x="731520" y="3246120"/>
            <a:ext cx="10058400" cy="1463040"/>
          </a:xfrm>
          <a:prstGeom prst="rect">
            <a:avLst/>
          </a:prstGeom>
          <a:noFill/>
          <a:ln/>
        </p:spPr>
        <p:txBody>
          <a:bodyPr wrap="square" lIns="0" tIns="0" rIns="0" bIns="0" rtlCol="0" anchor="ctr"/>
          <a:lstStyle/>
          <a:p>
            <a:pPr marL="0" indent="0">
              <a:lnSpc>
                <a:spcPts val="5000"/>
              </a:lnSpc>
              <a:buNone/>
            </a:pPr>
            <a:r>
              <a:rPr lang="en-US" sz="5200" dirty="0">
                <a:solidFill>
                  <a:srgbClr val="EFE6D3"/>
                </a:solidFill>
                <a:latin typeface="Archivo Black" pitchFamily="34" charset="0"/>
                <a:ea typeface="Archivo Black" pitchFamily="34" charset="-122"/>
                <a:cs typeface="Archivo Black" pitchFamily="34" charset="-120"/>
              </a:rPr>
              <a:t>How the engine works.</a:t>
            </a:r>
            <a:endParaRPr lang="en-US" sz="5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T H E   E N G I N E</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868680"/>
            <a:ext cx="10607040" cy="822960"/>
          </a:xfrm>
          <a:prstGeom prst="rect">
            <a:avLst/>
          </a:prstGeom>
          <a:noFill/>
          <a:ln/>
        </p:spPr>
        <p:txBody>
          <a:bodyPr wrap="square" lIns="0" tIns="0" rIns="0" bIns="0" rtlCol="0" anchor="ctr"/>
          <a:lstStyle/>
          <a:p>
            <a:pPr marL="0" indent="0">
              <a:buNone/>
            </a:pPr>
            <a:r>
              <a:rPr lang="en-US" sz="3800" dirty="0">
                <a:solidFill>
                  <a:srgbClr val="EFE6D3"/>
                </a:solidFill>
                <a:latin typeface="Archivo Black" pitchFamily="34" charset="0"/>
                <a:ea typeface="Archivo Black" pitchFamily="34" charset="-122"/>
                <a:cs typeface="Archivo Black" pitchFamily="34" charset="-120"/>
              </a:rPr>
              <a:t>Six layers, One flow.</a:t>
            </a:r>
            <a:endParaRPr lang="en-US" sz="3800" dirty="0"/>
          </a:p>
        </p:txBody>
      </p:sp>
      <p:pic>
        <p:nvPicPr>
          <p:cNvPr id="5" name="Image 0" descr="d_pipeline.png"/>
          <p:cNvPicPr>
            <a:picLocks noChangeAspect="1"/>
          </p:cNvPicPr>
          <p:nvPr/>
        </p:nvPicPr>
        <p:blipFill>
          <a:blip r:embed="rId4"/>
          <a:stretch>
            <a:fillRect/>
          </a:stretch>
        </p:blipFill>
        <p:spPr>
          <a:xfrm>
            <a:off x="777240" y="1828800"/>
            <a:ext cx="10607040" cy="2121408"/>
          </a:xfrm>
          <a:prstGeom prst="rect">
            <a:avLst/>
          </a:prstGeom>
        </p:spPr>
      </p:pic>
      <p:sp>
        <p:nvSpPr>
          <p:cNvPr id="6" name="Text 3"/>
          <p:cNvSpPr txBox="1"/>
          <p:nvPr/>
        </p:nvSpPr>
        <p:spPr>
          <a:xfrm>
            <a:off x="777240" y="3703320"/>
            <a:ext cx="3429000" cy="274320"/>
          </a:xfrm>
          <a:prstGeom prst="rect">
            <a:avLst/>
          </a:prstGeom>
          <a:noFill/>
          <a:ln/>
        </p:spPr>
        <p:txBody>
          <a:bodyPr wrap="square" lIns="0" tIns="0" rIns="0" bIns="0" rtlCol="0" anchor="ctr"/>
          <a:lstStyle/>
          <a:p>
            <a:pPr marL="0" indent="0">
              <a:buNone/>
            </a:pPr>
            <a:r>
              <a:rPr lang="en-US" sz="1150" dirty="0">
                <a:solidFill>
                  <a:srgbClr val="C3E84C"/>
                </a:solidFill>
                <a:latin typeface="Poppins ExtraBold" pitchFamily="34" charset="0"/>
                <a:ea typeface="Poppins ExtraBold" pitchFamily="34" charset="-122"/>
                <a:cs typeface="Poppins ExtraBold" pitchFamily="34" charset="-120"/>
              </a:rPr>
              <a:t>01 / INGESTION</a:t>
            </a:r>
            <a:endParaRPr lang="en-US" sz="1150" dirty="0"/>
          </a:p>
        </p:txBody>
      </p:sp>
      <p:sp>
        <p:nvSpPr>
          <p:cNvPr id="7" name="Text 4"/>
          <p:cNvSpPr txBox="1"/>
          <p:nvPr/>
        </p:nvSpPr>
        <p:spPr>
          <a:xfrm>
            <a:off x="777240" y="3995928"/>
            <a:ext cx="3429000" cy="1005840"/>
          </a:xfrm>
          <a:prstGeom prst="rect">
            <a:avLst/>
          </a:prstGeom>
          <a:noFill/>
          <a:ln/>
        </p:spPr>
        <p:txBody>
          <a:bodyPr wrap="square" lIns="0" tIns="0" rIns="0" bIns="0" rtlCol="0" anchor="ctr"/>
          <a:lstStyle/>
          <a:p>
            <a:pPr marL="0" indent="0">
              <a:lnSpc>
                <a:spcPts val="1350"/>
              </a:lnSpc>
              <a:buNone/>
            </a:pPr>
            <a:r>
              <a:rPr lang="en-US" sz="1050" dirty="0">
                <a:solidFill>
                  <a:srgbClr val="F3ECDD"/>
                </a:solidFill>
                <a:latin typeface="Poppins Medium" pitchFamily="34" charset="0"/>
                <a:ea typeface="Poppins Medium" pitchFamily="34" charset="-122"/>
                <a:cs typeface="Poppins Medium" pitchFamily="34" charset="-120"/>
              </a:rPr>
              <a:t>Signed webhooks are received and de-duplicated so the same event can never be processed twice.</a:t>
            </a:r>
            <a:endParaRPr lang="en-US" sz="1050" dirty="0"/>
          </a:p>
        </p:txBody>
      </p:sp>
      <p:sp>
        <p:nvSpPr>
          <p:cNvPr id="8" name="Text 5"/>
          <p:cNvSpPr txBox="1"/>
          <p:nvPr/>
        </p:nvSpPr>
        <p:spPr>
          <a:xfrm>
            <a:off x="4462272" y="3703320"/>
            <a:ext cx="3429000" cy="274320"/>
          </a:xfrm>
          <a:prstGeom prst="rect">
            <a:avLst/>
          </a:prstGeom>
          <a:noFill/>
          <a:ln/>
        </p:spPr>
        <p:txBody>
          <a:bodyPr wrap="square" lIns="0" tIns="0" rIns="0" bIns="0" rtlCol="0" anchor="ctr"/>
          <a:lstStyle/>
          <a:p>
            <a:pPr marL="0" indent="0">
              <a:buNone/>
            </a:pPr>
            <a:r>
              <a:rPr lang="en-US" sz="1150" dirty="0">
                <a:solidFill>
                  <a:srgbClr val="EFE6D3"/>
                </a:solidFill>
                <a:latin typeface="Poppins ExtraBold" pitchFamily="34" charset="0"/>
                <a:ea typeface="Poppins ExtraBold" pitchFamily="34" charset="-122"/>
                <a:cs typeface="Poppins ExtraBold" pitchFamily="34" charset="-120"/>
              </a:rPr>
              <a:t>02 / NORMALIZE</a:t>
            </a:r>
            <a:endParaRPr lang="en-US" sz="1150" dirty="0"/>
          </a:p>
        </p:txBody>
      </p:sp>
      <p:sp>
        <p:nvSpPr>
          <p:cNvPr id="9" name="Text 6"/>
          <p:cNvSpPr txBox="1"/>
          <p:nvPr/>
        </p:nvSpPr>
        <p:spPr>
          <a:xfrm>
            <a:off x="4462272" y="3995928"/>
            <a:ext cx="3429000" cy="1005840"/>
          </a:xfrm>
          <a:prstGeom prst="rect">
            <a:avLst/>
          </a:prstGeom>
          <a:noFill/>
          <a:ln/>
        </p:spPr>
        <p:txBody>
          <a:bodyPr wrap="square" lIns="0" tIns="0" rIns="0" bIns="0" rtlCol="0" anchor="ctr"/>
          <a:lstStyle/>
          <a:p>
            <a:pPr marL="0" indent="0">
              <a:lnSpc>
                <a:spcPts val="1350"/>
              </a:lnSpc>
              <a:buNone/>
            </a:pPr>
            <a:r>
              <a:rPr lang="en-US" sz="1050" dirty="0">
                <a:solidFill>
                  <a:srgbClr val="F3ECDD"/>
                </a:solidFill>
                <a:latin typeface="Poppins Medium" pitchFamily="34" charset="0"/>
                <a:ea typeface="Poppins Medium" pitchFamily="34" charset="-122"/>
                <a:cs typeface="Poppins Medium" pitchFamily="34" charset="-120"/>
              </a:rPr>
              <a:t>Payments, orders, subscriptions and invoices are mapped into one common case model.</a:t>
            </a:r>
            <a:endParaRPr lang="en-US" sz="1050" dirty="0"/>
          </a:p>
        </p:txBody>
      </p:sp>
      <p:sp>
        <p:nvSpPr>
          <p:cNvPr id="10" name="Text 7"/>
          <p:cNvSpPr txBox="1"/>
          <p:nvPr/>
        </p:nvSpPr>
        <p:spPr>
          <a:xfrm>
            <a:off x="8147304" y="3703320"/>
            <a:ext cx="3429000" cy="274320"/>
          </a:xfrm>
          <a:prstGeom prst="rect">
            <a:avLst/>
          </a:prstGeom>
          <a:noFill/>
          <a:ln/>
        </p:spPr>
        <p:txBody>
          <a:bodyPr wrap="square" lIns="0" tIns="0" rIns="0" bIns="0" rtlCol="0" anchor="ctr"/>
          <a:lstStyle/>
          <a:p>
            <a:pPr marL="0" indent="0">
              <a:buNone/>
            </a:pPr>
            <a:r>
              <a:rPr lang="en-US" sz="1150" dirty="0">
                <a:solidFill>
                  <a:srgbClr val="F0603A"/>
                </a:solidFill>
                <a:latin typeface="Poppins ExtraBold" pitchFamily="34" charset="0"/>
                <a:ea typeface="Poppins ExtraBold" pitchFamily="34" charset="-122"/>
                <a:cs typeface="Poppins ExtraBold" pitchFamily="34" charset="-120"/>
              </a:rPr>
              <a:t>03 / RECONCILE</a:t>
            </a:r>
            <a:endParaRPr lang="en-US" sz="1150" dirty="0"/>
          </a:p>
        </p:txBody>
      </p:sp>
      <p:sp>
        <p:nvSpPr>
          <p:cNvPr id="11" name="Text 8"/>
          <p:cNvSpPr txBox="1"/>
          <p:nvPr/>
        </p:nvSpPr>
        <p:spPr>
          <a:xfrm>
            <a:off x="8147304" y="3995928"/>
            <a:ext cx="3429000" cy="1005840"/>
          </a:xfrm>
          <a:prstGeom prst="rect">
            <a:avLst/>
          </a:prstGeom>
          <a:noFill/>
          <a:ln/>
        </p:spPr>
        <p:txBody>
          <a:bodyPr wrap="square" lIns="0" tIns="0" rIns="0" bIns="0" rtlCol="0" anchor="ctr"/>
          <a:lstStyle/>
          <a:p>
            <a:pPr marL="0" indent="0">
              <a:lnSpc>
                <a:spcPts val="1350"/>
              </a:lnSpc>
              <a:buNone/>
            </a:pPr>
            <a:r>
              <a:rPr lang="en-US" sz="1050" dirty="0">
                <a:solidFill>
                  <a:srgbClr val="F3ECDD"/>
                </a:solidFill>
                <a:latin typeface="Poppins Medium" pitchFamily="34" charset="0"/>
                <a:ea typeface="Poppins Medium" pitchFamily="34" charset="-122"/>
                <a:cs typeface="Poppins Medium" pitchFamily="34" charset="-120"/>
              </a:rPr>
              <a:t>Live state is re-read from Razorpay before any action — the single most important step.</a:t>
            </a:r>
            <a:endParaRPr lang="en-US" sz="1050" dirty="0"/>
          </a:p>
        </p:txBody>
      </p:sp>
      <p:sp>
        <p:nvSpPr>
          <p:cNvPr id="12" name="Text 9"/>
          <p:cNvSpPr txBox="1"/>
          <p:nvPr/>
        </p:nvSpPr>
        <p:spPr>
          <a:xfrm>
            <a:off x="777240" y="5120640"/>
            <a:ext cx="3429000" cy="274320"/>
          </a:xfrm>
          <a:prstGeom prst="rect">
            <a:avLst/>
          </a:prstGeom>
          <a:noFill/>
          <a:ln/>
        </p:spPr>
        <p:txBody>
          <a:bodyPr wrap="square" lIns="0" tIns="0" rIns="0" bIns="0" rtlCol="0" anchor="ctr"/>
          <a:lstStyle/>
          <a:p>
            <a:pPr marL="0" indent="0">
              <a:buNone/>
            </a:pPr>
            <a:r>
              <a:rPr lang="en-US" sz="1150" dirty="0">
                <a:solidFill>
                  <a:srgbClr val="EFE6D3"/>
                </a:solidFill>
                <a:latin typeface="Poppins ExtraBold" pitchFamily="34" charset="0"/>
                <a:ea typeface="Poppins ExtraBold" pitchFamily="34" charset="-122"/>
                <a:cs typeface="Poppins ExtraBold" pitchFamily="34" charset="-120"/>
              </a:rPr>
              <a:t>04 / DECISION</a:t>
            </a:r>
            <a:endParaRPr lang="en-US" sz="1150" dirty="0"/>
          </a:p>
        </p:txBody>
      </p:sp>
      <p:sp>
        <p:nvSpPr>
          <p:cNvPr id="13" name="Text 10"/>
          <p:cNvSpPr txBox="1"/>
          <p:nvPr/>
        </p:nvSpPr>
        <p:spPr>
          <a:xfrm>
            <a:off x="777240" y="5413248"/>
            <a:ext cx="3429000" cy="1005840"/>
          </a:xfrm>
          <a:prstGeom prst="rect">
            <a:avLst/>
          </a:prstGeom>
          <a:noFill/>
          <a:ln/>
        </p:spPr>
        <p:txBody>
          <a:bodyPr wrap="square" lIns="0" tIns="0" rIns="0" bIns="0" rtlCol="0" anchor="ctr"/>
          <a:lstStyle/>
          <a:p>
            <a:pPr marL="0" indent="0">
              <a:lnSpc>
                <a:spcPts val="1350"/>
              </a:lnSpc>
              <a:buNone/>
            </a:pPr>
            <a:r>
              <a:rPr lang="en-US" sz="1050" dirty="0">
                <a:solidFill>
                  <a:srgbClr val="F3ECDD"/>
                </a:solidFill>
                <a:latin typeface="Poppins Medium" pitchFamily="34" charset="0"/>
                <a:ea typeface="Poppins Medium" pitchFamily="34" charset="-122"/>
                <a:cs typeface="Poppins Medium" pitchFamily="34" charset="-120"/>
              </a:rPr>
              <a:t>A rule-based score picks the best bounded action, with a reason code and a confidence.</a:t>
            </a:r>
            <a:endParaRPr lang="en-US" sz="1050" dirty="0"/>
          </a:p>
        </p:txBody>
      </p:sp>
      <p:sp>
        <p:nvSpPr>
          <p:cNvPr id="14" name="Text 11"/>
          <p:cNvSpPr txBox="1"/>
          <p:nvPr/>
        </p:nvSpPr>
        <p:spPr>
          <a:xfrm>
            <a:off x="4462272" y="5120640"/>
            <a:ext cx="3429000" cy="274320"/>
          </a:xfrm>
          <a:prstGeom prst="rect">
            <a:avLst/>
          </a:prstGeom>
          <a:noFill/>
          <a:ln/>
        </p:spPr>
        <p:txBody>
          <a:bodyPr wrap="square" lIns="0" tIns="0" rIns="0" bIns="0" rtlCol="0" anchor="ctr"/>
          <a:lstStyle/>
          <a:p>
            <a:pPr marL="0" indent="0">
              <a:buNone/>
            </a:pPr>
            <a:r>
              <a:rPr lang="en-US" sz="1150" dirty="0">
                <a:solidFill>
                  <a:srgbClr val="C3E84C"/>
                </a:solidFill>
                <a:latin typeface="Poppins ExtraBold" pitchFamily="34" charset="0"/>
                <a:ea typeface="Poppins ExtraBold" pitchFamily="34" charset="-122"/>
                <a:cs typeface="Poppins ExtraBold" pitchFamily="34" charset="-120"/>
              </a:rPr>
              <a:t>05 / LEDGER</a:t>
            </a:r>
            <a:endParaRPr lang="en-US" sz="1150" dirty="0"/>
          </a:p>
        </p:txBody>
      </p:sp>
      <p:sp>
        <p:nvSpPr>
          <p:cNvPr id="15" name="Text 12"/>
          <p:cNvSpPr txBox="1"/>
          <p:nvPr/>
        </p:nvSpPr>
        <p:spPr>
          <a:xfrm>
            <a:off x="4462272" y="5413248"/>
            <a:ext cx="3429000" cy="1005840"/>
          </a:xfrm>
          <a:prstGeom prst="rect">
            <a:avLst/>
          </a:prstGeom>
          <a:noFill/>
          <a:ln/>
        </p:spPr>
        <p:txBody>
          <a:bodyPr wrap="square" lIns="0" tIns="0" rIns="0" bIns="0" rtlCol="0" anchor="ctr"/>
          <a:lstStyle/>
          <a:p>
            <a:pPr marL="0" indent="0">
              <a:lnSpc>
                <a:spcPts val="1350"/>
              </a:lnSpc>
              <a:buNone/>
            </a:pPr>
            <a:r>
              <a:rPr lang="en-US" sz="1050" dirty="0">
                <a:solidFill>
                  <a:srgbClr val="F3ECDD"/>
                </a:solidFill>
                <a:latin typeface="Poppins Medium" pitchFamily="34" charset="0"/>
                <a:ea typeface="Poppins Medium" pitchFamily="34" charset="-122"/>
                <a:cs typeface="Poppins Medium" pitchFamily="34" charset="-120"/>
              </a:rPr>
              <a:t>Every money event is appended, never edited — refunds subtract back out automatically.</a:t>
            </a:r>
            <a:endParaRPr lang="en-US" sz="1050" dirty="0"/>
          </a:p>
        </p:txBody>
      </p:sp>
      <p:sp>
        <p:nvSpPr>
          <p:cNvPr id="16" name="Text 13"/>
          <p:cNvSpPr txBox="1"/>
          <p:nvPr/>
        </p:nvSpPr>
        <p:spPr>
          <a:xfrm>
            <a:off x="8147304" y="5120640"/>
            <a:ext cx="3429000" cy="274320"/>
          </a:xfrm>
          <a:prstGeom prst="rect">
            <a:avLst/>
          </a:prstGeom>
          <a:noFill/>
          <a:ln/>
        </p:spPr>
        <p:txBody>
          <a:bodyPr wrap="square" lIns="0" tIns="0" rIns="0" bIns="0" rtlCol="0" anchor="ctr"/>
          <a:lstStyle/>
          <a:p>
            <a:pPr marL="0" indent="0">
              <a:buNone/>
            </a:pPr>
            <a:r>
              <a:rPr lang="en-US" sz="1150" dirty="0">
                <a:solidFill>
                  <a:srgbClr val="EFE6D3"/>
                </a:solidFill>
                <a:latin typeface="Poppins ExtraBold" pitchFamily="34" charset="0"/>
                <a:ea typeface="Poppins ExtraBold" pitchFamily="34" charset="-122"/>
                <a:cs typeface="Poppins ExtraBold" pitchFamily="34" charset="-120"/>
              </a:rPr>
              <a:t>06 / AUDIT</a:t>
            </a:r>
            <a:endParaRPr lang="en-US" sz="1150" dirty="0"/>
          </a:p>
        </p:txBody>
      </p:sp>
      <p:sp>
        <p:nvSpPr>
          <p:cNvPr id="17" name="Text 14"/>
          <p:cNvSpPr txBox="1"/>
          <p:nvPr/>
        </p:nvSpPr>
        <p:spPr>
          <a:xfrm>
            <a:off x="8147304" y="5413248"/>
            <a:ext cx="3429000" cy="1005840"/>
          </a:xfrm>
          <a:prstGeom prst="rect">
            <a:avLst/>
          </a:prstGeom>
          <a:noFill/>
          <a:ln/>
        </p:spPr>
        <p:txBody>
          <a:bodyPr wrap="square" lIns="0" tIns="0" rIns="0" bIns="0" rtlCol="0" anchor="ctr"/>
          <a:lstStyle/>
          <a:p>
            <a:pPr marL="0" indent="0">
              <a:lnSpc>
                <a:spcPts val="1350"/>
              </a:lnSpc>
              <a:buNone/>
            </a:pPr>
            <a:r>
              <a:rPr lang="en-US" sz="1050" dirty="0">
                <a:solidFill>
                  <a:srgbClr val="F3ECDD"/>
                </a:solidFill>
                <a:latin typeface="Poppins Medium" pitchFamily="34" charset="0"/>
                <a:ea typeface="Poppins Medium" pitchFamily="34" charset="-122"/>
                <a:cs typeface="Poppins Medium" pitchFamily="34" charset="-120"/>
              </a:rPr>
              <a:t>The full case timeline is exportable, giving finance teams complete transparency.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R E L I A B I L I T Y</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Shape 2"/>
          <p:cNvSpPr/>
          <p:nvPr/>
        </p:nvSpPr>
        <p:spPr>
          <a:xfrm>
            <a:off x="713232" y="1673352"/>
            <a:ext cx="5614416" cy="3419856"/>
          </a:xfrm>
          <a:prstGeom prst="roundRect">
            <a:avLst>
              <a:gd name="adj" fmla="val 3209"/>
            </a:avLst>
          </a:prstGeom>
          <a:solidFill>
            <a:srgbClr val="0B2A28"/>
          </a:solidFill>
          <a:ln/>
          <a:effectLst>
            <a:outerShdw blurRad="177800" dist="63500" dir="5400000" algn="bl" rotWithShape="0">
              <a:srgbClr val="202020">
                <a:alpha val="22000"/>
              </a:srgbClr>
            </a:outerShdw>
          </a:effectLst>
        </p:spPr>
        <p:txBody>
          <a:bodyPr/>
          <a:lstStyle/>
          <a:p>
            <a:endParaRPr lang="en-IN"/>
          </a:p>
        </p:txBody>
      </p:sp>
      <p:pic>
        <p:nvPicPr>
          <p:cNvPr id="5" name="Image 0" descr="r_overview.png"/>
          <p:cNvPicPr>
            <a:picLocks noChangeAspect="1"/>
          </p:cNvPicPr>
          <p:nvPr/>
        </p:nvPicPr>
        <p:blipFill>
          <a:blip r:embed="rId4"/>
          <a:stretch>
            <a:fillRect/>
          </a:stretch>
        </p:blipFill>
        <p:spPr>
          <a:xfrm>
            <a:off x="777240" y="1737360"/>
            <a:ext cx="5486400" cy="3291840"/>
          </a:xfrm>
          <a:prstGeom prst="rect">
            <a:avLst/>
          </a:prstGeom>
        </p:spPr>
      </p:pic>
      <p:sp>
        <p:nvSpPr>
          <p:cNvPr id="6" name="Text 3"/>
          <p:cNvSpPr txBox="1"/>
          <p:nvPr/>
        </p:nvSpPr>
        <p:spPr>
          <a:xfrm>
            <a:off x="6720840" y="914400"/>
            <a:ext cx="5212080" cy="1737360"/>
          </a:xfrm>
          <a:prstGeom prst="rect">
            <a:avLst/>
          </a:prstGeom>
          <a:noFill/>
          <a:ln/>
        </p:spPr>
        <p:txBody>
          <a:bodyPr wrap="square" lIns="0" tIns="0" rIns="0" bIns="0" rtlCol="0" anchor="ctr"/>
          <a:lstStyle/>
          <a:p>
            <a:pPr marL="0" indent="0">
              <a:lnSpc>
                <a:spcPts val="3800"/>
              </a:lnSpc>
              <a:buNone/>
            </a:pPr>
            <a:r>
              <a:rPr lang="en-US" sz="3800" dirty="0">
                <a:solidFill>
                  <a:srgbClr val="EFE6D3"/>
                </a:solidFill>
                <a:latin typeface="Archivo Black" pitchFamily="34" charset="0"/>
                <a:ea typeface="Archivo Black" pitchFamily="34" charset="-122"/>
                <a:cs typeface="Archivo Black" pitchFamily="34" charset="-120"/>
              </a:rPr>
              <a:t>The double-</a:t>
            </a:r>
            <a:endParaRPr lang="en-US" sz="3800" dirty="0"/>
          </a:p>
          <a:p>
            <a:pPr marL="0" indent="0">
              <a:lnSpc>
                <a:spcPts val="3800"/>
              </a:lnSpc>
              <a:buNone/>
            </a:pPr>
            <a:r>
              <a:rPr lang="en-US" sz="3800" dirty="0">
                <a:solidFill>
                  <a:srgbClr val="EFE6D3"/>
                </a:solidFill>
                <a:latin typeface="Archivo Black" pitchFamily="34" charset="0"/>
                <a:ea typeface="Archivo Black" pitchFamily="34" charset="-122"/>
                <a:cs typeface="Archivo Black" pitchFamily="34" charset="-120"/>
              </a:rPr>
              <a:t>charge firewall.</a:t>
            </a:r>
            <a:endParaRPr lang="en-US" sz="3800" dirty="0"/>
          </a:p>
        </p:txBody>
      </p:sp>
      <p:sp>
        <p:nvSpPr>
          <p:cNvPr id="7" name="Text 4"/>
          <p:cNvSpPr txBox="1"/>
          <p:nvPr/>
        </p:nvSpPr>
        <p:spPr>
          <a:xfrm>
            <a:off x="6720840" y="2330245"/>
            <a:ext cx="5029200" cy="1830275"/>
          </a:xfrm>
          <a:prstGeom prst="rect">
            <a:avLst/>
          </a:prstGeom>
          <a:noFill/>
          <a:ln/>
        </p:spPr>
        <p:txBody>
          <a:bodyPr wrap="square" lIns="0" tIns="0" rIns="0" bIns="0" rtlCol="0" anchor="t"/>
          <a:lstStyle/>
          <a:p>
            <a:pPr marL="0" indent="0">
              <a:lnSpc>
                <a:spcPts val="1700"/>
              </a:lnSpc>
              <a:buNone/>
            </a:pPr>
            <a:r>
              <a:rPr lang="en-US" sz="1250" dirty="0">
                <a:solidFill>
                  <a:srgbClr val="9DBCB4"/>
                </a:solidFill>
                <a:latin typeface="Poppins Medium" pitchFamily="34" charset="0"/>
                <a:ea typeface="Poppins Medium" pitchFamily="34" charset="-122"/>
                <a:cs typeface="Poppins Medium" pitchFamily="34" charset="-120"/>
              </a:rPr>
              <a:t>This is our most important reliability idea, and it is grounded in Razorpay’s own documentation: a payment can move from failed to captured almost instantly, and you can even receive a “failed” webhook after the money is already in. So, before ReOS acts on any failure, it re-reads the live state. If the order is already paid, the system logs an intelligent no-op instead of retrying — turning a would-be double charge into a proven non-event.</a:t>
            </a:r>
            <a:endParaRPr lang="en-US" sz="1250" dirty="0"/>
          </a:p>
        </p:txBody>
      </p:sp>
      <p:sp>
        <p:nvSpPr>
          <p:cNvPr id="8" name="Shape 5"/>
          <p:cNvSpPr/>
          <p:nvPr/>
        </p:nvSpPr>
        <p:spPr>
          <a:xfrm>
            <a:off x="6720840" y="4308003"/>
            <a:ext cx="457200" cy="457200"/>
          </a:xfrm>
          <a:prstGeom prst="ellipse">
            <a:avLst/>
          </a:prstGeom>
          <a:solidFill>
            <a:srgbClr val="F0603A"/>
          </a:solidFill>
          <a:ln/>
        </p:spPr>
        <p:txBody>
          <a:bodyPr/>
          <a:lstStyle/>
          <a:p>
            <a:endParaRPr lang="en-IN"/>
          </a:p>
        </p:txBody>
      </p:sp>
      <p:sp>
        <p:nvSpPr>
          <p:cNvPr id="9" name="Text 6"/>
          <p:cNvSpPr txBox="1"/>
          <p:nvPr/>
        </p:nvSpPr>
        <p:spPr>
          <a:xfrm>
            <a:off x="6720840" y="4308001"/>
            <a:ext cx="457200" cy="457200"/>
          </a:xfrm>
          <a:prstGeom prst="rect">
            <a:avLst/>
          </a:prstGeom>
          <a:noFill/>
          <a:ln/>
        </p:spPr>
        <p:txBody>
          <a:bodyPr wrap="square" lIns="0" tIns="0" rIns="0" bIns="0" rtlCol="0" anchor="ctr"/>
          <a:lstStyle/>
          <a:p>
            <a:pPr marL="0" indent="0" algn="ctr">
              <a:buNone/>
            </a:pPr>
            <a:r>
              <a:rPr lang="en-US" sz="1400" dirty="0">
                <a:solidFill>
                  <a:srgbClr val="EFE6D3"/>
                </a:solidFill>
                <a:latin typeface="Poppins ExtraBold" pitchFamily="34" charset="0"/>
                <a:ea typeface="Poppins ExtraBold" pitchFamily="34" charset="-122"/>
                <a:cs typeface="Poppins ExtraBold" pitchFamily="34" charset="-120"/>
              </a:rPr>
              <a:t>1</a:t>
            </a:r>
            <a:endParaRPr lang="en-US" sz="1400" dirty="0"/>
          </a:p>
        </p:txBody>
      </p:sp>
      <p:sp>
        <p:nvSpPr>
          <p:cNvPr id="10" name="Text 7"/>
          <p:cNvSpPr txBox="1"/>
          <p:nvPr/>
        </p:nvSpPr>
        <p:spPr>
          <a:xfrm>
            <a:off x="7360920" y="4308001"/>
            <a:ext cx="4480560" cy="457200"/>
          </a:xfrm>
          <a:prstGeom prst="rect">
            <a:avLst/>
          </a:prstGeom>
          <a:noFill/>
          <a:ln/>
        </p:spPr>
        <p:txBody>
          <a:bodyPr wrap="square" lIns="0" tIns="0" rIns="0" bIns="0" rtlCol="0" anchor="ctr"/>
          <a:lstStyle/>
          <a:p>
            <a:pPr marL="0" indent="0">
              <a:buNone/>
            </a:pPr>
            <a:r>
              <a:rPr lang="en-US" sz="1400" dirty="0">
                <a:solidFill>
                  <a:srgbClr val="EFE6D3"/>
                </a:solidFill>
                <a:latin typeface="Poppins SemiBold" pitchFamily="34" charset="0"/>
                <a:ea typeface="Poppins SemiBold" pitchFamily="34" charset="-122"/>
                <a:cs typeface="Poppins SemiBold" pitchFamily="34" charset="-120"/>
              </a:rPr>
              <a:t>Webhook says “failed”</a:t>
            </a:r>
            <a:endParaRPr lang="en-US" sz="1400" dirty="0"/>
          </a:p>
        </p:txBody>
      </p:sp>
      <p:sp>
        <p:nvSpPr>
          <p:cNvPr id="11" name="Shape 8"/>
          <p:cNvSpPr/>
          <p:nvPr/>
        </p:nvSpPr>
        <p:spPr>
          <a:xfrm>
            <a:off x="6720840" y="4948085"/>
            <a:ext cx="457200" cy="457200"/>
          </a:xfrm>
          <a:prstGeom prst="ellipse">
            <a:avLst/>
          </a:prstGeom>
          <a:solidFill>
            <a:srgbClr val="C3E84C"/>
          </a:solidFill>
          <a:ln/>
        </p:spPr>
        <p:txBody>
          <a:bodyPr/>
          <a:lstStyle/>
          <a:p>
            <a:endParaRPr lang="en-IN"/>
          </a:p>
        </p:txBody>
      </p:sp>
      <p:sp>
        <p:nvSpPr>
          <p:cNvPr id="12" name="Text 9"/>
          <p:cNvSpPr txBox="1"/>
          <p:nvPr/>
        </p:nvSpPr>
        <p:spPr>
          <a:xfrm>
            <a:off x="6720840" y="4948081"/>
            <a:ext cx="457200" cy="457200"/>
          </a:xfrm>
          <a:prstGeom prst="rect">
            <a:avLst/>
          </a:prstGeom>
          <a:noFill/>
          <a:ln/>
        </p:spPr>
        <p:txBody>
          <a:bodyPr wrap="square" lIns="0" tIns="0" rIns="0" bIns="0" rtlCol="0" anchor="ctr"/>
          <a:lstStyle/>
          <a:p>
            <a:pPr marL="0" indent="0" algn="ctr">
              <a:buNone/>
            </a:pPr>
            <a:r>
              <a:rPr lang="en-US" sz="1400" dirty="0">
                <a:solidFill>
                  <a:srgbClr val="121712"/>
                </a:solidFill>
                <a:latin typeface="Poppins ExtraBold" pitchFamily="34" charset="0"/>
                <a:ea typeface="Poppins ExtraBold" pitchFamily="34" charset="-122"/>
                <a:cs typeface="Poppins ExtraBold" pitchFamily="34" charset="-120"/>
              </a:rPr>
              <a:t>2</a:t>
            </a:r>
            <a:endParaRPr lang="en-US" sz="1400" dirty="0"/>
          </a:p>
        </p:txBody>
      </p:sp>
      <p:sp>
        <p:nvSpPr>
          <p:cNvPr id="13" name="Text 10"/>
          <p:cNvSpPr txBox="1"/>
          <p:nvPr/>
        </p:nvSpPr>
        <p:spPr>
          <a:xfrm>
            <a:off x="7360920" y="4948081"/>
            <a:ext cx="4480560" cy="457200"/>
          </a:xfrm>
          <a:prstGeom prst="rect">
            <a:avLst/>
          </a:prstGeom>
          <a:noFill/>
          <a:ln/>
        </p:spPr>
        <p:txBody>
          <a:bodyPr wrap="square" lIns="0" tIns="0" rIns="0" bIns="0" rtlCol="0" anchor="ctr"/>
          <a:lstStyle/>
          <a:p>
            <a:pPr marL="0" indent="0">
              <a:buNone/>
            </a:pPr>
            <a:r>
              <a:rPr lang="en-US" sz="1400" dirty="0">
                <a:solidFill>
                  <a:srgbClr val="EFE6D3"/>
                </a:solidFill>
                <a:latin typeface="Poppins SemiBold" pitchFamily="34" charset="0"/>
                <a:ea typeface="Poppins SemiBold" pitchFamily="34" charset="-122"/>
                <a:cs typeface="Poppins SemiBold" pitchFamily="34" charset="-120"/>
              </a:rPr>
              <a:t>Live check says “captured”</a:t>
            </a:r>
            <a:endParaRPr lang="en-US" sz="1400" dirty="0"/>
          </a:p>
        </p:txBody>
      </p:sp>
      <p:sp>
        <p:nvSpPr>
          <p:cNvPr id="14" name="Shape 11"/>
          <p:cNvSpPr/>
          <p:nvPr/>
        </p:nvSpPr>
        <p:spPr>
          <a:xfrm>
            <a:off x="6720840" y="5578330"/>
            <a:ext cx="457200" cy="457200"/>
          </a:xfrm>
          <a:prstGeom prst="ellipse">
            <a:avLst/>
          </a:prstGeom>
          <a:solidFill>
            <a:srgbClr val="B98AF0"/>
          </a:solidFill>
          <a:ln/>
        </p:spPr>
        <p:txBody>
          <a:bodyPr/>
          <a:lstStyle/>
          <a:p>
            <a:endParaRPr lang="en-IN"/>
          </a:p>
        </p:txBody>
      </p:sp>
      <p:sp>
        <p:nvSpPr>
          <p:cNvPr id="15" name="Text 12"/>
          <p:cNvSpPr txBox="1"/>
          <p:nvPr/>
        </p:nvSpPr>
        <p:spPr>
          <a:xfrm>
            <a:off x="6720840" y="5588161"/>
            <a:ext cx="457200" cy="457200"/>
          </a:xfrm>
          <a:prstGeom prst="rect">
            <a:avLst/>
          </a:prstGeom>
          <a:noFill/>
          <a:ln/>
        </p:spPr>
        <p:txBody>
          <a:bodyPr wrap="square" lIns="0" tIns="0" rIns="0" bIns="0" rtlCol="0" anchor="ctr"/>
          <a:lstStyle/>
          <a:p>
            <a:pPr marL="0" indent="0" algn="ctr">
              <a:buNone/>
            </a:pPr>
            <a:r>
              <a:rPr lang="en-US" sz="1400" dirty="0">
                <a:solidFill>
                  <a:srgbClr val="EFE6D3"/>
                </a:solidFill>
                <a:latin typeface="Poppins ExtraBold" pitchFamily="34" charset="0"/>
                <a:ea typeface="Poppins ExtraBold" pitchFamily="34" charset="-122"/>
                <a:cs typeface="Poppins ExtraBold" pitchFamily="34" charset="-120"/>
              </a:rPr>
              <a:t>3</a:t>
            </a:r>
            <a:endParaRPr lang="en-US" sz="1400" dirty="0"/>
          </a:p>
        </p:txBody>
      </p:sp>
      <p:sp>
        <p:nvSpPr>
          <p:cNvPr id="16" name="Text 13"/>
          <p:cNvSpPr txBox="1"/>
          <p:nvPr/>
        </p:nvSpPr>
        <p:spPr>
          <a:xfrm>
            <a:off x="7360920" y="5588161"/>
            <a:ext cx="4480560" cy="457200"/>
          </a:xfrm>
          <a:prstGeom prst="rect">
            <a:avLst/>
          </a:prstGeom>
          <a:noFill/>
          <a:ln/>
        </p:spPr>
        <p:txBody>
          <a:bodyPr wrap="square" lIns="0" tIns="0" rIns="0" bIns="0" rtlCol="0" anchor="ctr"/>
          <a:lstStyle/>
          <a:p>
            <a:pPr marL="0" indent="0">
              <a:buNone/>
            </a:pPr>
            <a:r>
              <a:rPr lang="en-US" sz="1400" dirty="0">
                <a:solidFill>
                  <a:srgbClr val="EFE6D3"/>
                </a:solidFill>
                <a:latin typeface="Poppins SemiBold" pitchFamily="34" charset="0"/>
                <a:ea typeface="Poppins SemiBold" pitchFamily="34" charset="-122"/>
                <a:cs typeface="Poppins SemiBold" pitchFamily="34" charset="-120"/>
              </a:rPr>
              <a:t>NO-OP — no second charge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S A F E T Y   F I R S T</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914400"/>
            <a:ext cx="8229600" cy="868680"/>
          </a:xfrm>
          <a:prstGeom prst="rect">
            <a:avLst/>
          </a:prstGeom>
          <a:noFill/>
          <a:ln/>
        </p:spPr>
        <p:txBody>
          <a:bodyPr wrap="square" lIns="0" tIns="0" rIns="0" bIns="0" rtlCol="0" anchor="ctr"/>
          <a:lstStyle/>
          <a:p>
            <a:pPr marL="0" indent="0">
              <a:buNone/>
            </a:pPr>
            <a:r>
              <a:rPr lang="en-US" sz="4400" dirty="0">
                <a:solidFill>
                  <a:srgbClr val="EFE6D3"/>
                </a:solidFill>
                <a:latin typeface="Archivo Black" pitchFamily="34" charset="0"/>
                <a:ea typeface="Archivo Black" pitchFamily="34" charset="-122"/>
                <a:cs typeface="Archivo Black" pitchFamily="34" charset="-120"/>
              </a:rPr>
              <a:t>Safety is a feature.</a:t>
            </a:r>
            <a:endParaRPr lang="en-US" sz="4400" dirty="0"/>
          </a:p>
        </p:txBody>
      </p:sp>
      <p:sp>
        <p:nvSpPr>
          <p:cNvPr id="5" name="Text 3"/>
          <p:cNvSpPr txBox="1"/>
          <p:nvPr/>
        </p:nvSpPr>
        <p:spPr>
          <a:xfrm>
            <a:off x="777240" y="1874520"/>
            <a:ext cx="4937760" cy="2377440"/>
          </a:xfrm>
          <a:prstGeom prst="rect">
            <a:avLst/>
          </a:prstGeom>
          <a:noFill/>
          <a:ln/>
        </p:spPr>
        <p:txBody>
          <a:bodyPr wrap="square" lIns="0" tIns="0" rIns="0" bIns="0" rtlCol="0" anchor="t"/>
          <a:lstStyle/>
          <a:p>
            <a:pPr marL="0" indent="0">
              <a:lnSpc>
                <a:spcPts val="1800"/>
              </a:lnSpc>
              <a:buNone/>
            </a:pPr>
            <a:r>
              <a:rPr lang="en-US" sz="1250" dirty="0">
                <a:solidFill>
                  <a:srgbClr val="9DBCB4"/>
                </a:solidFill>
                <a:latin typeface="Poppins Medium" pitchFamily="34" charset="0"/>
                <a:ea typeface="Poppins Medium" pitchFamily="34" charset="-122"/>
                <a:cs typeface="Poppins Medium" pitchFamily="34" charset="-120"/>
              </a:rPr>
              <a:t>In a payments system, safety is not plumbing you hide — it is the product. ReOS makes a hard architectural split: deterministic code owns all money truth, and AI is only ever allowed to classify, draft, and explain. No AI path can move a rupee. Every outbound message passes a dark-pattern screen that rejects false urgency, confirm-shaming, and fake scarcity. Consent is checked before contact. And every refusal the system makes is surfaced on a Guardrails cockpit, so you can literally watch the safety working.</a:t>
            </a:r>
            <a:endParaRPr lang="en-US" sz="1250" dirty="0"/>
          </a:p>
        </p:txBody>
      </p:sp>
      <p:sp>
        <p:nvSpPr>
          <p:cNvPr id="6" name="Text 4"/>
          <p:cNvSpPr txBox="1"/>
          <p:nvPr/>
        </p:nvSpPr>
        <p:spPr>
          <a:xfrm>
            <a:off x="777240" y="4148721"/>
            <a:ext cx="4937760" cy="274320"/>
          </a:xfrm>
          <a:prstGeom prst="rect">
            <a:avLst/>
          </a:prstGeom>
          <a:noFill/>
          <a:ln/>
        </p:spPr>
        <p:txBody>
          <a:bodyPr wrap="square" lIns="0" tIns="0" rIns="0" bIns="0" rtlCol="0" anchor="ctr"/>
          <a:lstStyle/>
          <a:p>
            <a:pPr marL="0" indent="0">
              <a:buNone/>
            </a:pPr>
            <a:r>
              <a:rPr lang="en-US" sz="1150" dirty="0">
                <a:solidFill>
                  <a:srgbClr val="F0603A"/>
                </a:solidFill>
                <a:latin typeface="Poppins ExtraBold" pitchFamily="34" charset="0"/>
                <a:ea typeface="Poppins ExtraBold" pitchFamily="34" charset="-122"/>
                <a:cs typeface="Poppins ExtraBold" pitchFamily="34" charset="-120"/>
              </a:rPr>
              <a:t>01 / NO DARK PATTERNS</a:t>
            </a:r>
            <a:endParaRPr lang="en-US" sz="1150" dirty="0"/>
          </a:p>
        </p:txBody>
      </p:sp>
      <p:sp>
        <p:nvSpPr>
          <p:cNvPr id="7" name="Text 5"/>
          <p:cNvSpPr txBox="1"/>
          <p:nvPr/>
        </p:nvSpPr>
        <p:spPr>
          <a:xfrm>
            <a:off x="777240" y="4251960"/>
            <a:ext cx="4937760" cy="548640"/>
          </a:xfrm>
          <a:prstGeom prst="rect">
            <a:avLst/>
          </a:prstGeom>
          <a:noFill/>
          <a:ln/>
        </p:spPr>
        <p:txBody>
          <a:bodyPr wrap="square" lIns="0" tIns="0" rIns="0" bIns="0" rtlCol="0" anchor="ctr"/>
          <a:lstStyle/>
          <a:p>
            <a:pPr marL="0" indent="0">
              <a:lnSpc>
                <a:spcPts val="1400"/>
              </a:lnSpc>
              <a:buNone/>
            </a:pPr>
            <a:r>
              <a:rPr lang="en-US" sz="1100" dirty="0">
                <a:solidFill>
                  <a:srgbClr val="F3ECDD"/>
                </a:solidFill>
                <a:latin typeface="Poppins Medium" pitchFamily="34" charset="0"/>
                <a:ea typeface="Poppins Medium" pitchFamily="34" charset="-122"/>
                <a:cs typeface="Poppins Medium" pitchFamily="34" charset="-120"/>
              </a:rPr>
              <a:t>The agent refuses manipulative copy or forced consent, every time.</a:t>
            </a:r>
            <a:endParaRPr lang="en-US" sz="1100" dirty="0"/>
          </a:p>
        </p:txBody>
      </p:sp>
      <p:sp>
        <p:nvSpPr>
          <p:cNvPr id="8" name="Text 6"/>
          <p:cNvSpPr txBox="1"/>
          <p:nvPr/>
        </p:nvSpPr>
        <p:spPr>
          <a:xfrm>
            <a:off x="777240" y="4876308"/>
            <a:ext cx="4937760" cy="274320"/>
          </a:xfrm>
          <a:prstGeom prst="rect">
            <a:avLst/>
          </a:prstGeom>
          <a:noFill/>
          <a:ln/>
        </p:spPr>
        <p:txBody>
          <a:bodyPr wrap="square" lIns="0" tIns="0" rIns="0" bIns="0" rtlCol="0" anchor="ctr"/>
          <a:lstStyle/>
          <a:p>
            <a:pPr marL="0" indent="0">
              <a:buNone/>
            </a:pPr>
            <a:r>
              <a:rPr lang="en-US" sz="1150" dirty="0">
                <a:solidFill>
                  <a:srgbClr val="C3E84C"/>
                </a:solidFill>
                <a:latin typeface="Poppins ExtraBold" pitchFamily="34" charset="0"/>
                <a:ea typeface="Poppins ExtraBold" pitchFamily="34" charset="-122"/>
                <a:cs typeface="Poppins ExtraBold" pitchFamily="34" charset="-120"/>
              </a:rPr>
              <a:t>02 / APPEND-ONLY LEDGER</a:t>
            </a:r>
            <a:endParaRPr lang="en-US" sz="1150" dirty="0"/>
          </a:p>
        </p:txBody>
      </p:sp>
      <p:sp>
        <p:nvSpPr>
          <p:cNvPr id="9" name="Text 7"/>
          <p:cNvSpPr txBox="1"/>
          <p:nvPr/>
        </p:nvSpPr>
        <p:spPr>
          <a:xfrm>
            <a:off x="777240" y="5029200"/>
            <a:ext cx="4937760" cy="548640"/>
          </a:xfrm>
          <a:prstGeom prst="rect">
            <a:avLst/>
          </a:prstGeom>
          <a:noFill/>
          <a:ln/>
        </p:spPr>
        <p:txBody>
          <a:bodyPr wrap="square" lIns="0" tIns="0" rIns="0" bIns="0" rtlCol="0" anchor="ctr"/>
          <a:lstStyle/>
          <a:p>
            <a:pPr marL="0" indent="0">
              <a:lnSpc>
                <a:spcPts val="1400"/>
              </a:lnSpc>
              <a:buNone/>
            </a:pPr>
            <a:r>
              <a:rPr lang="en-US" sz="1100" dirty="0">
                <a:solidFill>
                  <a:srgbClr val="F3ECDD"/>
                </a:solidFill>
                <a:latin typeface="Poppins Medium" pitchFamily="34" charset="0"/>
                <a:ea typeface="Poppins Medium" pitchFamily="34" charset="-122"/>
                <a:cs typeface="Poppins Medium" pitchFamily="34" charset="-120"/>
              </a:rPr>
              <a:t>Every state change is logged permanently — there are no hidden actions.</a:t>
            </a:r>
            <a:endParaRPr lang="en-US" sz="1100" dirty="0"/>
          </a:p>
        </p:txBody>
      </p:sp>
      <p:sp>
        <p:nvSpPr>
          <p:cNvPr id="10" name="Text 8"/>
          <p:cNvSpPr txBox="1"/>
          <p:nvPr/>
        </p:nvSpPr>
        <p:spPr>
          <a:xfrm>
            <a:off x="777240" y="5655023"/>
            <a:ext cx="4937760" cy="274320"/>
          </a:xfrm>
          <a:prstGeom prst="rect">
            <a:avLst/>
          </a:prstGeom>
          <a:noFill/>
          <a:ln/>
        </p:spPr>
        <p:txBody>
          <a:bodyPr wrap="square" lIns="0" tIns="0" rIns="0" bIns="0" rtlCol="0" anchor="ctr"/>
          <a:lstStyle/>
          <a:p>
            <a:pPr marL="0" indent="0">
              <a:buNone/>
            </a:pPr>
            <a:r>
              <a:rPr lang="en-US" sz="1150" dirty="0">
                <a:solidFill>
                  <a:srgbClr val="B98AF0"/>
                </a:solidFill>
                <a:latin typeface="Poppins ExtraBold" pitchFamily="34" charset="0"/>
                <a:ea typeface="Poppins ExtraBold" pitchFamily="34" charset="-122"/>
                <a:cs typeface="Poppins ExtraBold" pitchFamily="34" charset="-120"/>
              </a:rPr>
              <a:t>03 / GUARDRAILS COCKPIT</a:t>
            </a:r>
            <a:endParaRPr lang="en-US" sz="1150" dirty="0"/>
          </a:p>
        </p:txBody>
      </p:sp>
      <p:sp>
        <p:nvSpPr>
          <p:cNvPr id="11" name="Text 9"/>
          <p:cNvSpPr txBox="1"/>
          <p:nvPr/>
        </p:nvSpPr>
        <p:spPr>
          <a:xfrm>
            <a:off x="777240" y="5806440"/>
            <a:ext cx="4937760" cy="548640"/>
          </a:xfrm>
          <a:prstGeom prst="rect">
            <a:avLst/>
          </a:prstGeom>
          <a:noFill/>
          <a:ln/>
        </p:spPr>
        <p:txBody>
          <a:bodyPr wrap="square" lIns="0" tIns="0" rIns="0" bIns="0" rtlCol="0" anchor="ctr"/>
          <a:lstStyle/>
          <a:p>
            <a:pPr marL="0" indent="0">
              <a:lnSpc>
                <a:spcPts val="1400"/>
              </a:lnSpc>
              <a:buNone/>
            </a:pPr>
            <a:r>
              <a:rPr lang="en-US" sz="1100" dirty="0">
                <a:solidFill>
                  <a:srgbClr val="F3ECDD"/>
                </a:solidFill>
                <a:latin typeface="Poppins Medium" pitchFamily="34" charset="0"/>
                <a:ea typeface="Poppins Medium" pitchFamily="34" charset="-122"/>
                <a:cs typeface="Poppins Medium" pitchFamily="34" charset="-120"/>
              </a:rPr>
              <a:t>A dedicated screen shows every refusal the agent made, with the rule that blocked it.</a:t>
            </a:r>
            <a:endParaRPr lang="en-US" sz="1100" dirty="0"/>
          </a:p>
        </p:txBody>
      </p:sp>
      <p:sp>
        <p:nvSpPr>
          <p:cNvPr id="12" name="Shape 10"/>
          <p:cNvSpPr/>
          <p:nvPr/>
        </p:nvSpPr>
        <p:spPr>
          <a:xfrm>
            <a:off x="6245352" y="1353312"/>
            <a:ext cx="5614416" cy="4078224"/>
          </a:xfrm>
          <a:prstGeom prst="roundRect">
            <a:avLst>
              <a:gd name="adj" fmla="val 2691"/>
            </a:avLst>
          </a:prstGeom>
          <a:solidFill>
            <a:srgbClr val="0B2A28"/>
          </a:solidFill>
          <a:ln/>
          <a:effectLst>
            <a:outerShdw blurRad="177800" dist="63500" dir="5400000" algn="bl" rotWithShape="0">
              <a:srgbClr val="202020">
                <a:alpha val="22000"/>
              </a:srgbClr>
            </a:outerShdw>
          </a:effectLst>
        </p:spPr>
        <p:txBody>
          <a:bodyPr/>
          <a:lstStyle/>
          <a:p>
            <a:endParaRPr lang="en-IN"/>
          </a:p>
        </p:txBody>
      </p:sp>
      <p:pic>
        <p:nvPicPr>
          <p:cNvPr id="13" name="Image 0" descr="r_guardrails.png"/>
          <p:cNvPicPr>
            <a:picLocks noChangeAspect="1"/>
          </p:cNvPicPr>
          <p:nvPr/>
        </p:nvPicPr>
        <p:blipFill>
          <a:blip r:embed="rId4"/>
          <a:stretch>
            <a:fillRect/>
          </a:stretch>
        </p:blipFill>
        <p:spPr>
          <a:xfrm>
            <a:off x="6309360" y="1417320"/>
            <a:ext cx="5486400" cy="39502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T H E   A G E N T S</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31520" y="1188720"/>
            <a:ext cx="3657600" cy="2011680"/>
          </a:xfrm>
          <a:prstGeom prst="rect">
            <a:avLst/>
          </a:prstGeom>
          <a:noFill/>
          <a:ln/>
        </p:spPr>
        <p:txBody>
          <a:bodyPr wrap="square" lIns="0" tIns="0" rIns="0" bIns="0" rtlCol="0" anchor="ctr"/>
          <a:lstStyle/>
          <a:p>
            <a:pPr marL="0" indent="0">
              <a:buNone/>
            </a:pPr>
            <a:r>
              <a:rPr lang="en-US" sz="15000" dirty="0">
                <a:solidFill>
                  <a:srgbClr val="1E4F47"/>
                </a:solidFill>
                <a:latin typeface="Archivo Black" pitchFamily="34" charset="0"/>
                <a:ea typeface="Archivo Black" pitchFamily="34" charset="-122"/>
                <a:cs typeface="Archivo Black" pitchFamily="34" charset="-120"/>
              </a:rPr>
              <a:t>02</a:t>
            </a:r>
            <a:endParaRPr lang="en-US" sz="15000" dirty="0"/>
          </a:p>
        </p:txBody>
      </p:sp>
      <p:sp>
        <p:nvSpPr>
          <p:cNvPr id="5" name="Text 3"/>
          <p:cNvSpPr txBox="1"/>
          <p:nvPr/>
        </p:nvSpPr>
        <p:spPr>
          <a:xfrm>
            <a:off x="731520" y="3246120"/>
            <a:ext cx="10058400" cy="1463040"/>
          </a:xfrm>
          <a:prstGeom prst="rect">
            <a:avLst/>
          </a:prstGeom>
          <a:noFill/>
          <a:ln/>
        </p:spPr>
        <p:txBody>
          <a:bodyPr wrap="square" lIns="0" tIns="0" rIns="0" bIns="0" rtlCol="0" anchor="ctr"/>
          <a:lstStyle/>
          <a:p>
            <a:pPr marL="0" indent="0">
              <a:lnSpc>
                <a:spcPts val="5000"/>
              </a:lnSpc>
              <a:buNone/>
            </a:pPr>
            <a:r>
              <a:rPr lang="en-US" sz="5200" dirty="0">
                <a:solidFill>
                  <a:srgbClr val="EFE6D3"/>
                </a:solidFill>
                <a:latin typeface="Archivo Black" pitchFamily="34" charset="0"/>
                <a:ea typeface="Archivo Black" pitchFamily="34" charset="-122"/>
                <a:cs typeface="Archivo Black" pitchFamily="34" charset="-120"/>
              </a:rPr>
              <a:t>Seven bounded roles.</a:t>
            </a:r>
            <a:endParaRPr lang="en-US" sz="5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T H E   A G E N T S</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868680"/>
            <a:ext cx="10789920" cy="822960"/>
          </a:xfrm>
          <a:prstGeom prst="rect">
            <a:avLst/>
          </a:prstGeom>
          <a:noFill/>
          <a:ln/>
        </p:spPr>
        <p:txBody>
          <a:bodyPr wrap="square" lIns="0" tIns="0" rIns="0" bIns="0" rtlCol="0" anchor="ctr"/>
          <a:lstStyle/>
          <a:p>
            <a:pPr marL="0" indent="0">
              <a:buNone/>
            </a:pPr>
            <a:r>
              <a:rPr lang="en-US" sz="3000" dirty="0">
                <a:solidFill>
                  <a:srgbClr val="EFE6D3"/>
                </a:solidFill>
                <a:latin typeface="Archivo Black" pitchFamily="34" charset="0"/>
                <a:ea typeface="Archivo Black" pitchFamily="34" charset="-122"/>
                <a:cs typeface="Archivo Black" pitchFamily="34" charset="-120"/>
              </a:rPr>
              <a:t>AI where it helps. code where it counts.</a:t>
            </a:r>
            <a:endParaRPr lang="en-US" sz="3000" dirty="0"/>
          </a:p>
        </p:txBody>
      </p:sp>
      <p:sp>
        <p:nvSpPr>
          <p:cNvPr id="5" name="Text 3"/>
          <p:cNvSpPr txBox="1"/>
          <p:nvPr/>
        </p:nvSpPr>
        <p:spPr>
          <a:xfrm>
            <a:off x="777240" y="1675416"/>
            <a:ext cx="10789920" cy="2377440"/>
          </a:xfrm>
          <a:prstGeom prst="rect">
            <a:avLst/>
          </a:prstGeom>
          <a:noFill/>
          <a:ln/>
        </p:spPr>
        <p:txBody>
          <a:bodyPr wrap="square" lIns="0" tIns="0" rIns="0" bIns="0" rtlCol="0" anchor="t"/>
          <a:lstStyle/>
          <a:p>
            <a:pPr marL="0" indent="0">
              <a:lnSpc>
                <a:spcPts val="1700"/>
              </a:lnSpc>
              <a:buNone/>
            </a:pPr>
            <a:r>
              <a:rPr lang="en-US" sz="1250" dirty="0">
                <a:solidFill>
                  <a:srgbClr val="9DBCB4"/>
                </a:solidFill>
                <a:latin typeface="Poppins Medium" pitchFamily="34" charset="0"/>
                <a:ea typeface="Poppins Medium" pitchFamily="34" charset="-122"/>
                <a:cs typeface="Poppins Medium" pitchFamily="34" charset="-120"/>
              </a:rPr>
              <a:t>A common mistake is to let a language model do everything. ReOS does the opposite: three AI agents handle judgment — classifying failures, drafting consented copy, and reading customer replies — while three deterministic agents handle anything touching money or budgets. One orchestrator routes every verified case and enforces a fixed tool allowlist per agent. If an agent cannot identify the entity, the state, the allowed action, or consent, it abstains and escalates to a human.</a:t>
            </a:r>
            <a:endParaRPr lang="en-US" sz="1250" dirty="0"/>
          </a:p>
        </p:txBody>
      </p:sp>
      <p:pic>
        <p:nvPicPr>
          <p:cNvPr id="6" name="Image 0" descr="d_aisplit.png"/>
          <p:cNvPicPr>
            <a:picLocks noChangeAspect="1"/>
          </p:cNvPicPr>
          <p:nvPr/>
        </p:nvPicPr>
        <p:blipFill>
          <a:blip r:embed="rId4"/>
          <a:stretch>
            <a:fillRect/>
          </a:stretch>
        </p:blipFill>
        <p:spPr>
          <a:xfrm>
            <a:off x="777240" y="2880360"/>
            <a:ext cx="10607040" cy="3868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T H E   P R O O F</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31520" y="1188720"/>
            <a:ext cx="3657600" cy="2011680"/>
          </a:xfrm>
          <a:prstGeom prst="rect">
            <a:avLst/>
          </a:prstGeom>
          <a:noFill/>
          <a:ln/>
        </p:spPr>
        <p:txBody>
          <a:bodyPr wrap="square" lIns="0" tIns="0" rIns="0" bIns="0" rtlCol="0" anchor="ctr"/>
          <a:lstStyle/>
          <a:p>
            <a:pPr marL="0" indent="0">
              <a:buNone/>
            </a:pPr>
            <a:r>
              <a:rPr lang="en-US" sz="15000" dirty="0">
                <a:solidFill>
                  <a:srgbClr val="1E4F47"/>
                </a:solidFill>
                <a:latin typeface="Archivo Black" pitchFamily="34" charset="0"/>
                <a:ea typeface="Archivo Black" pitchFamily="34" charset="-122"/>
                <a:cs typeface="Archivo Black" pitchFamily="34" charset="-120"/>
              </a:rPr>
              <a:t>03</a:t>
            </a:r>
            <a:endParaRPr lang="en-US" sz="15000" dirty="0"/>
          </a:p>
        </p:txBody>
      </p:sp>
      <p:sp>
        <p:nvSpPr>
          <p:cNvPr id="5" name="Text 3"/>
          <p:cNvSpPr txBox="1"/>
          <p:nvPr/>
        </p:nvSpPr>
        <p:spPr>
          <a:xfrm>
            <a:off x="731520" y="3246120"/>
            <a:ext cx="10058400" cy="1463040"/>
          </a:xfrm>
          <a:prstGeom prst="rect">
            <a:avLst/>
          </a:prstGeom>
          <a:noFill/>
          <a:ln/>
        </p:spPr>
        <p:txBody>
          <a:bodyPr wrap="square" lIns="0" tIns="0" rIns="0" bIns="0" rtlCol="0" anchor="ctr"/>
          <a:lstStyle/>
          <a:p>
            <a:pPr marL="0" indent="0">
              <a:lnSpc>
                <a:spcPts val="5000"/>
              </a:lnSpc>
              <a:buNone/>
            </a:pPr>
            <a:r>
              <a:rPr lang="en-US" sz="5200" dirty="0">
                <a:solidFill>
                  <a:srgbClr val="EFE6D3"/>
                </a:solidFill>
                <a:latin typeface="Archivo Black" pitchFamily="34" charset="0"/>
                <a:ea typeface="Archivo Black" pitchFamily="34" charset="-122"/>
                <a:cs typeface="Archivo Black" pitchFamily="34" charset="-120"/>
              </a:rPr>
              <a:t>Watch it work,</a:t>
            </a:r>
            <a:endParaRPr lang="en-US" sz="5200" dirty="0"/>
          </a:p>
          <a:p>
            <a:pPr marL="0" indent="0">
              <a:lnSpc>
                <a:spcPts val="5000"/>
              </a:lnSpc>
              <a:buNone/>
            </a:pPr>
            <a:r>
              <a:rPr lang="en-US" sz="5200" dirty="0">
                <a:solidFill>
                  <a:srgbClr val="EFE6D3"/>
                </a:solidFill>
                <a:latin typeface="Archivo Black" pitchFamily="34" charset="0"/>
                <a:ea typeface="Archivo Black" pitchFamily="34" charset="-122"/>
                <a:cs typeface="Archivo Black" pitchFamily="34" charset="-120"/>
              </a:rPr>
              <a:t>then measure it.</a:t>
            </a:r>
            <a:endParaRPr lang="en-US" sz="5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R E P L A Y   S T U D I O</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1C5A54"/>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535563" y="894736"/>
            <a:ext cx="10789920" cy="868680"/>
          </a:xfrm>
          <a:prstGeom prst="rect">
            <a:avLst/>
          </a:prstGeom>
          <a:noFill/>
          <a:ln/>
        </p:spPr>
        <p:txBody>
          <a:bodyPr wrap="square" lIns="0" tIns="0" rIns="0" bIns="0" rtlCol="0" anchor="ctr"/>
          <a:lstStyle/>
          <a:p>
            <a:pPr marL="0" indent="0">
              <a:buNone/>
            </a:pPr>
            <a:r>
              <a:rPr lang="en-US" sz="3600" dirty="0">
                <a:solidFill>
                  <a:srgbClr val="121712"/>
                </a:solidFill>
                <a:latin typeface="Archivo Black" pitchFamily="34" charset="0"/>
                <a:ea typeface="Archivo Black" pitchFamily="34" charset="-122"/>
                <a:cs typeface="Archivo Black" pitchFamily="34" charset="-120"/>
              </a:rPr>
              <a:t>Watch it work, then measure it.</a:t>
            </a:r>
            <a:endParaRPr lang="en-US" sz="3600" dirty="0"/>
          </a:p>
        </p:txBody>
      </p:sp>
      <p:sp>
        <p:nvSpPr>
          <p:cNvPr id="5" name="Text 3"/>
          <p:cNvSpPr txBox="1"/>
          <p:nvPr/>
        </p:nvSpPr>
        <p:spPr>
          <a:xfrm>
            <a:off x="551098" y="1704421"/>
            <a:ext cx="6400800" cy="2377440"/>
          </a:xfrm>
          <a:prstGeom prst="rect">
            <a:avLst/>
          </a:prstGeom>
          <a:noFill/>
          <a:ln/>
        </p:spPr>
        <p:txBody>
          <a:bodyPr wrap="square" lIns="0" tIns="0" rIns="0" bIns="0" rtlCol="0" anchor="t"/>
          <a:lstStyle/>
          <a:p>
            <a:pPr marL="0" indent="0">
              <a:lnSpc>
                <a:spcPts val="1800"/>
              </a:lnSpc>
              <a:buNone/>
            </a:pPr>
            <a:r>
              <a:rPr lang="en-US" sz="1250" dirty="0">
                <a:solidFill>
                  <a:srgbClr val="1C5A54"/>
                </a:solidFill>
                <a:latin typeface="Poppins Medium" pitchFamily="34" charset="0"/>
                <a:ea typeface="Poppins Medium" pitchFamily="34" charset="-122"/>
                <a:cs typeface="Poppins Medium" pitchFamily="34" charset="-120"/>
              </a:rPr>
              <a:t>The Replay &amp; Experiment Studio runs a whole batch of cases through the exact same production pipeline, and streams the results live. It walks six scripted moments on purpose: a stale no-op, a blocked duplicate, a consented cart recovery, a subscription stopped at it retry budget, a high-value escalation, and a refund that auto-subtracts. Then the key move: a treatment-vs-holdout toggle. The holdout sends nothing, so it shows what would have recovered anyway — letting us report only the money the agent caused.</a:t>
            </a:r>
            <a:endParaRPr lang="en-US" sz="1250" dirty="0"/>
          </a:p>
        </p:txBody>
      </p:sp>
      <p:grpSp>
        <p:nvGrpSpPr>
          <p:cNvPr id="35" name="Group 34">
            <a:extLst>
              <a:ext uri="{FF2B5EF4-FFF2-40B4-BE49-F238E27FC236}">
                <a16:creationId xmlns:a16="http://schemas.microsoft.com/office/drawing/2014/main" id="{38998AC9-0644-14AD-6928-49C9B5694B06}"/>
              </a:ext>
            </a:extLst>
          </p:cNvPr>
          <p:cNvGrpSpPr/>
          <p:nvPr/>
        </p:nvGrpSpPr>
        <p:grpSpPr>
          <a:xfrm>
            <a:off x="580594" y="3438144"/>
            <a:ext cx="5271566" cy="3296953"/>
            <a:chOff x="713232" y="3593592"/>
            <a:chExt cx="5980176" cy="3990442"/>
          </a:xfrm>
        </p:grpSpPr>
        <p:sp>
          <p:nvSpPr>
            <p:cNvPr id="6" name="Shape 4"/>
            <p:cNvSpPr/>
            <p:nvPr/>
          </p:nvSpPr>
          <p:spPr>
            <a:xfrm>
              <a:off x="713232" y="3593592"/>
              <a:ext cx="5980176" cy="3990442"/>
            </a:xfrm>
            <a:prstGeom prst="roundRect">
              <a:avLst>
                <a:gd name="adj" fmla="val 2750"/>
              </a:avLst>
            </a:prstGeom>
            <a:solidFill>
              <a:srgbClr val="FFFFFF"/>
            </a:solidFill>
            <a:ln/>
            <a:effectLst>
              <a:outerShdw blurRad="177800" dist="63500" dir="5400000" algn="bl" rotWithShape="0">
                <a:srgbClr val="202020">
                  <a:alpha val="22000"/>
                </a:srgbClr>
              </a:outerShdw>
            </a:effectLst>
          </p:spPr>
          <p:txBody>
            <a:bodyPr/>
            <a:lstStyle/>
            <a:p>
              <a:endParaRPr lang="en-IN"/>
            </a:p>
          </p:txBody>
        </p:sp>
        <p:pic>
          <p:nvPicPr>
            <p:cNvPr id="7" name="Image 0" descr="r_replay.png"/>
            <p:cNvPicPr>
              <a:picLocks noChangeAspect="1"/>
            </p:cNvPicPr>
            <p:nvPr/>
          </p:nvPicPr>
          <p:blipFill>
            <a:blip r:embed="rId4"/>
            <a:stretch>
              <a:fillRect/>
            </a:stretch>
          </p:blipFill>
          <p:spPr>
            <a:xfrm>
              <a:off x="777240" y="3657600"/>
              <a:ext cx="5852160" cy="3862426"/>
            </a:xfrm>
            <a:prstGeom prst="rect">
              <a:avLst/>
            </a:prstGeom>
          </p:spPr>
        </p:pic>
      </p:grpSp>
      <p:sp>
        <p:nvSpPr>
          <p:cNvPr id="8" name="Text 5"/>
          <p:cNvSpPr txBox="1"/>
          <p:nvPr/>
        </p:nvSpPr>
        <p:spPr>
          <a:xfrm>
            <a:off x="8260080" y="1536192"/>
            <a:ext cx="4373575" cy="274320"/>
          </a:xfrm>
          <a:prstGeom prst="rect">
            <a:avLst/>
          </a:prstGeom>
          <a:noFill/>
          <a:ln/>
        </p:spPr>
        <p:txBody>
          <a:bodyPr wrap="square" rtlCol="0" anchor="ctr"/>
          <a:lstStyle/>
          <a:p>
            <a:pPr marL="0" indent="0">
              <a:buNone/>
            </a:pPr>
            <a:r>
              <a:rPr lang="en-US" sz="1100" kern="0" spc="100" dirty="0">
                <a:solidFill>
                  <a:srgbClr val="121712"/>
                </a:solidFill>
                <a:latin typeface="Poppins ExtraBold" pitchFamily="34" charset="0"/>
                <a:ea typeface="Poppins ExtraBold" pitchFamily="34" charset="-122"/>
                <a:cs typeface="Poppins ExtraBold" pitchFamily="34" charset="-120"/>
              </a:rPr>
              <a:t>SIX SCRIPTED MOMENTS</a:t>
            </a:r>
            <a:endParaRPr lang="en-US" sz="1100" dirty="0"/>
          </a:p>
        </p:txBody>
      </p:sp>
      <p:sp>
        <p:nvSpPr>
          <p:cNvPr id="9" name="Text 6"/>
          <p:cNvSpPr txBox="1"/>
          <p:nvPr/>
        </p:nvSpPr>
        <p:spPr>
          <a:xfrm>
            <a:off x="7040880" y="2011680"/>
            <a:ext cx="320040" cy="365760"/>
          </a:xfrm>
          <a:prstGeom prst="rect">
            <a:avLst/>
          </a:prstGeom>
          <a:noFill/>
          <a:ln/>
        </p:spPr>
        <p:txBody>
          <a:bodyPr wrap="square" lIns="0" tIns="0" rIns="0" bIns="0" rtlCol="0" anchor="ctr"/>
          <a:lstStyle/>
          <a:p>
            <a:pPr marL="0" indent="0">
              <a:buNone/>
            </a:pPr>
            <a:r>
              <a:rPr lang="en-US" sz="1300" dirty="0">
                <a:solidFill>
                  <a:srgbClr val="F0603A"/>
                </a:solidFill>
                <a:latin typeface="Archivo Black" pitchFamily="34" charset="0"/>
                <a:ea typeface="Archivo Black" pitchFamily="34" charset="-122"/>
                <a:cs typeface="Archivo Black" pitchFamily="34" charset="-120"/>
              </a:rPr>
              <a:t>1</a:t>
            </a:r>
            <a:endParaRPr lang="en-US" sz="1300" dirty="0"/>
          </a:p>
        </p:txBody>
      </p:sp>
      <p:sp>
        <p:nvSpPr>
          <p:cNvPr id="10" name="Text 7"/>
          <p:cNvSpPr txBox="1"/>
          <p:nvPr/>
        </p:nvSpPr>
        <p:spPr>
          <a:xfrm>
            <a:off x="7406640" y="2011680"/>
            <a:ext cx="2819095" cy="365760"/>
          </a:xfrm>
          <a:prstGeom prst="rect">
            <a:avLst/>
          </a:prstGeom>
          <a:noFill/>
          <a:ln/>
        </p:spPr>
        <p:txBody>
          <a:bodyPr wrap="square" lIns="0" tIns="0" rIns="0" bIns="0" rtlCol="0" anchor="ctr"/>
          <a:lstStyle/>
          <a:p>
            <a:pPr marL="0" indent="0">
              <a:buNone/>
            </a:pPr>
            <a:r>
              <a:rPr lang="en-US" sz="1200" dirty="0">
                <a:solidFill>
                  <a:srgbClr val="121712"/>
                </a:solidFill>
                <a:latin typeface="Poppins SemiBold" pitchFamily="34" charset="0"/>
                <a:ea typeface="Poppins SemiBold" pitchFamily="34" charset="-122"/>
                <a:cs typeface="Poppins SemiBold" pitchFamily="34" charset="-120"/>
              </a:rPr>
              <a:t>Stale failure</a:t>
            </a:r>
            <a:endParaRPr lang="en-US" sz="1200" dirty="0"/>
          </a:p>
        </p:txBody>
      </p:sp>
      <p:sp>
        <p:nvSpPr>
          <p:cNvPr id="11" name="Shape 8"/>
          <p:cNvSpPr/>
          <p:nvPr/>
        </p:nvSpPr>
        <p:spPr>
          <a:xfrm>
            <a:off x="10088575" y="2048256"/>
            <a:ext cx="1325880" cy="310896"/>
          </a:xfrm>
          <a:prstGeom prst="roundRect">
            <a:avLst>
              <a:gd name="adj" fmla="val 50000"/>
            </a:avLst>
          </a:prstGeom>
          <a:solidFill>
            <a:srgbClr val="2F6BE0"/>
          </a:solidFill>
          <a:ln/>
        </p:spPr>
        <p:txBody>
          <a:bodyPr/>
          <a:lstStyle/>
          <a:p>
            <a:endParaRPr lang="en-IN"/>
          </a:p>
        </p:txBody>
      </p:sp>
      <p:sp>
        <p:nvSpPr>
          <p:cNvPr id="12" name="Text 9"/>
          <p:cNvSpPr txBox="1"/>
          <p:nvPr/>
        </p:nvSpPr>
        <p:spPr>
          <a:xfrm>
            <a:off x="10088575" y="2048256"/>
            <a:ext cx="13258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Poppins ExtraBold" pitchFamily="34" charset="0"/>
                <a:ea typeface="Poppins ExtraBold" pitchFamily="34" charset="-122"/>
                <a:cs typeface="Poppins ExtraBold" pitchFamily="34" charset="-120"/>
              </a:rPr>
              <a:t>no-op</a:t>
            </a:r>
            <a:endParaRPr lang="en-US" sz="900" dirty="0"/>
          </a:p>
        </p:txBody>
      </p:sp>
      <p:sp>
        <p:nvSpPr>
          <p:cNvPr id="13" name="Text 10"/>
          <p:cNvSpPr txBox="1"/>
          <p:nvPr/>
        </p:nvSpPr>
        <p:spPr>
          <a:xfrm>
            <a:off x="7040880" y="2542032"/>
            <a:ext cx="320040" cy="365760"/>
          </a:xfrm>
          <a:prstGeom prst="rect">
            <a:avLst/>
          </a:prstGeom>
          <a:noFill/>
          <a:ln/>
        </p:spPr>
        <p:txBody>
          <a:bodyPr wrap="square" lIns="0" tIns="0" rIns="0" bIns="0" rtlCol="0" anchor="ctr"/>
          <a:lstStyle/>
          <a:p>
            <a:pPr marL="0" indent="0">
              <a:buNone/>
            </a:pPr>
            <a:r>
              <a:rPr lang="en-US" sz="1300" dirty="0">
                <a:solidFill>
                  <a:srgbClr val="F0603A"/>
                </a:solidFill>
                <a:latin typeface="Archivo Black" pitchFamily="34" charset="0"/>
                <a:ea typeface="Archivo Black" pitchFamily="34" charset="-122"/>
                <a:cs typeface="Archivo Black" pitchFamily="34" charset="-120"/>
              </a:rPr>
              <a:t>2</a:t>
            </a:r>
            <a:endParaRPr lang="en-US" sz="1300" dirty="0"/>
          </a:p>
        </p:txBody>
      </p:sp>
      <p:sp>
        <p:nvSpPr>
          <p:cNvPr id="14" name="Text 11"/>
          <p:cNvSpPr txBox="1"/>
          <p:nvPr/>
        </p:nvSpPr>
        <p:spPr>
          <a:xfrm>
            <a:off x="7406640" y="2542032"/>
            <a:ext cx="2819095" cy="365760"/>
          </a:xfrm>
          <a:prstGeom prst="rect">
            <a:avLst/>
          </a:prstGeom>
          <a:noFill/>
          <a:ln/>
        </p:spPr>
        <p:txBody>
          <a:bodyPr wrap="square" lIns="0" tIns="0" rIns="0" bIns="0" rtlCol="0" anchor="ctr"/>
          <a:lstStyle/>
          <a:p>
            <a:pPr marL="0" indent="0">
              <a:buNone/>
            </a:pPr>
            <a:r>
              <a:rPr lang="en-US" sz="1200" dirty="0">
                <a:solidFill>
                  <a:srgbClr val="121712"/>
                </a:solidFill>
                <a:latin typeface="Poppins SemiBold" pitchFamily="34" charset="0"/>
                <a:ea typeface="Poppins SemiBold" pitchFamily="34" charset="-122"/>
                <a:cs typeface="Poppins SemiBold" pitchFamily="34" charset="-120"/>
              </a:rPr>
              <a:t>Duplicate event</a:t>
            </a:r>
            <a:endParaRPr lang="en-US" sz="1200" dirty="0"/>
          </a:p>
        </p:txBody>
      </p:sp>
      <p:sp>
        <p:nvSpPr>
          <p:cNvPr id="15" name="Shape 12"/>
          <p:cNvSpPr/>
          <p:nvPr/>
        </p:nvSpPr>
        <p:spPr>
          <a:xfrm>
            <a:off x="10088575" y="2578608"/>
            <a:ext cx="1325880" cy="310896"/>
          </a:xfrm>
          <a:prstGeom prst="roundRect">
            <a:avLst>
              <a:gd name="adj" fmla="val 50000"/>
            </a:avLst>
          </a:prstGeom>
          <a:solidFill>
            <a:srgbClr val="D64545"/>
          </a:solidFill>
          <a:ln/>
        </p:spPr>
        <p:txBody>
          <a:bodyPr/>
          <a:lstStyle/>
          <a:p>
            <a:endParaRPr lang="en-IN"/>
          </a:p>
        </p:txBody>
      </p:sp>
      <p:sp>
        <p:nvSpPr>
          <p:cNvPr id="16" name="Text 13"/>
          <p:cNvSpPr txBox="1"/>
          <p:nvPr/>
        </p:nvSpPr>
        <p:spPr>
          <a:xfrm>
            <a:off x="10088575" y="2578608"/>
            <a:ext cx="13258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Poppins ExtraBold" pitchFamily="34" charset="0"/>
                <a:ea typeface="Poppins ExtraBold" pitchFamily="34" charset="-122"/>
                <a:cs typeface="Poppins ExtraBold" pitchFamily="34" charset="-120"/>
              </a:rPr>
              <a:t>blocked</a:t>
            </a:r>
            <a:endParaRPr lang="en-US" sz="900" dirty="0"/>
          </a:p>
        </p:txBody>
      </p:sp>
      <p:sp>
        <p:nvSpPr>
          <p:cNvPr id="17" name="Text 14"/>
          <p:cNvSpPr txBox="1"/>
          <p:nvPr/>
        </p:nvSpPr>
        <p:spPr>
          <a:xfrm>
            <a:off x="7040880" y="3072384"/>
            <a:ext cx="320040" cy="365760"/>
          </a:xfrm>
          <a:prstGeom prst="rect">
            <a:avLst/>
          </a:prstGeom>
          <a:noFill/>
          <a:ln/>
        </p:spPr>
        <p:txBody>
          <a:bodyPr wrap="square" lIns="0" tIns="0" rIns="0" bIns="0" rtlCol="0" anchor="ctr"/>
          <a:lstStyle/>
          <a:p>
            <a:pPr marL="0" indent="0">
              <a:buNone/>
            </a:pPr>
            <a:r>
              <a:rPr lang="en-US" sz="1300" dirty="0">
                <a:solidFill>
                  <a:srgbClr val="F0603A"/>
                </a:solidFill>
                <a:latin typeface="Archivo Black" pitchFamily="34" charset="0"/>
                <a:ea typeface="Archivo Black" pitchFamily="34" charset="-122"/>
                <a:cs typeface="Archivo Black" pitchFamily="34" charset="-120"/>
              </a:rPr>
              <a:t>3</a:t>
            </a:r>
            <a:endParaRPr lang="en-US" sz="1300" dirty="0"/>
          </a:p>
        </p:txBody>
      </p:sp>
      <p:sp>
        <p:nvSpPr>
          <p:cNvPr id="18" name="Text 15"/>
          <p:cNvSpPr txBox="1"/>
          <p:nvPr/>
        </p:nvSpPr>
        <p:spPr>
          <a:xfrm>
            <a:off x="7406640" y="3072384"/>
            <a:ext cx="2819095" cy="365760"/>
          </a:xfrm>
          <a:prstGeom prst="rect">
            <a:avLst/>
          </a:prstGeom>
          <a:noFill/>
          <a:ln/>
        </p:spPr>
        <p:txBody>
          <a:bodyPr wrap="square" lIns="0" tIns="0" rIns="0" bIns="0" rtlCol="0" anchor="ctr"/>
          <a:lstStyle/>
          <a:p>
            <a:pPr marL="0" indent="0">
              <a:buNone/>
            </a:pPr>
            <a:r>
              <a:rPr lang="en-US" sz="1200" dirty="0">
                <a:solidFill>
                  <a:srgbClr val="121712"/>
                </a:solidFill>
                <a:latin typeface="Poppins SemiBold" pitchFamily="34" charset="0"/>
                <a:ea typeface="Poppins SemiBold" pitchFamily="34" charset="-122"/>
                <a:cs typeface="Poppins SemiBold" pitchFamily="34" charset="-120"/>
              </a:rPr>
              <a:t>Cart recovery</a:t>
            </a:r>
            <a:endParaRPr lang="en-US" sz="1200" dirty="0"/>
          </a:p>
        </p:txBody>
      </p:sp>
      <p:sp>
        <p:nvSpPr>
          <p:cNvPr id="19" name="Shape 16"/>
          <p:cNvSpPr/>
          <p:nvPr/>
        </p:nvSpPr>
        <p:spPr>
          <a:xfrm>
            <a:off x="10088575" y="3108960"/>
            <a:ext cx="1325880" cy="310896"/>
          </a:xfrm>
          <a:prstGeom prst="roundRect">
            <a:avLst>
              <a:gd name="adj" fmla="val 50000"/>
            </a:avLst>
          </a:prstGeom>
          <a:solidFill>
            <a:srgbClr val="22A85E"/>
          </a:solidFill>
          <a:ln/>
        </p:spPr>
        <p:txBody>
          <a:bodyPr/>
          <a:lstStyle/>
          <a:p>
            <a:endParaRPr lang="en-IN"/>
          </a:p>
        </p:txBody>
      </p:sp>
      <p:sp>
        <p:nvSpPr>
          <p:cNvPr id="20" name="Text 17"/>
          <p:cNvSpPr txBox="1"/>
          <p:nvPr/>
        </p:nvSpPr>
        <p:spPr>
          <a:xfrm>
            <a:off x="10088575" y="3108960"/>
            <a:ext cx="13258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Poppins ExtraBold" pitchFamily="34" charset="0"/>
                <a:ea typeface="Poppins ExtraBold" pitchFamily="34" charset="-122"/>
                <a:cs typeface="Poppins ExtraBold" pitchFamily="34" charset="-120"/>
              </a:rPr>
              <a:t>recovered</a:t>
            </a:r>
            <a:endParaRPr lang="en-US" sz="900" dirty="0"/>
          </a:p>
        </p:txBody>
      </p:sp>
      <p:sp>
        <p:nvSpPr>
          <p:cNvPr id="21" name="Text 18"/>
          <p:cNvSpPr txBox="1"/>
          <p:nvPr/>
        </p:nvSpPr>
        <p:spPr>
          <a:xfrm>
            <a:off x="7040880" y="3602736"/>
            <a:ext cx="320040" cy="365760"/>
          </a:xfrm>
          <a:prstGeom prst="rect">
            <a:avLst/>
          </a:prstGeom>
          <a:noFill/>
          <a:ln/>
        </p:spPr>
        <p:txBody>
          <a:bodyPr wrap="square" lIns="0" tIns="0" rIns="0" bIns="0" rtlCol="0" anchor="ctr"/>
          <a:lstStyle/>
          <a:p>
            <a:pPr marL="0" indent="0">
              <a:buNone/>
            </a:pPr>
            <a:r>
              <a:rPr lang="en-US" sz="1300" dirty="0">
                <a:solidFill>
                  <a:srgbClr val="F0603A"/>
                </a:solidFill>
                <a:latin typeface="Archivo Black" pitchFamily="34" charset="0"/>
                <a:ea typeface="Archivo Black" pitchFamily="34" charset="-122"/>
                <a:cs typeface="Archivo Black" pitchFamily="34" charset="-120"/>
              </a:rPr>
              <a:t>4</a:t>
            </a:r>
            <a:endParaRPr lang="en-US" sz="1300" dirty="0"/>
          </a:p>
        </p:txBody>
      </p:sp>
      <p:sp>
        <p:nvSpPr>
          <p:cNvPr id="22" name="Text 19"/>
          <p:cNvSpPr txBox="1"/>
          <p:nvPr/>
        </p:nvSpPr>
        <p:spPr>
          <a:xfrm>
            <a:off x="7406640" y="3602736"/>
            <a:ext cx="2819095" cy="365760"/>
          </a:xfrm>
          <a:prstGeom prst="rect">
            <a:avLst/>
          </a:prstGeom>
          <a:noFill/>
          <a:ln/>
        </p:spPr>
        <p:txBody>
          <a:bodyPr wrap="square" lIns="0" tIns="0" rIns="0" bIns="0" rtlCol="0" anchor="ctr"/>
          <a:lstStyle/>
          <a:p>
            <a:pPr marL="0" indent="0">
              <a:buNone/>
            </a:pPr>
            <a:r>
              <a:rPr lang="en-US" sz="1200" dirty="0">
                <a:solidFill>
                  <a:srgbClr val="121712"/>
                </a:solidFill>
                <a:latin typeface="Poppins SemiBold" pitchFamily="34" charset="0"/>
                <a:ea typeface="Poppins SemiBold" pitchFamily="34" charset="-122"/>
                <a:cs typeface="Poppins SemiBold" pitchFamily="34" charset="-120"/>
              </a:rPr>
              <a:t>Retry budget (T+3)</a:t>
            </a:r>
            <a:endParaRPr lang="en-US" sz="1200" dirty="0"/>
          </a:p>
        </p:txBody>
      </p:sp>
      <p:sp>
        <p:nvSpPr>
          <p:cNvPr id="23" name="Shape 20"/>
          <p:cNvSpPr/>
          <p:nvPr/>
        </p:nvSpPr>
        <p:spPr>
          <a:xfrm>
            <a:off x="10088575" y="3639312"/>
            <a:ext cx="1325880" cy="310896"/>
          </a:xfrm>
          <a:prstGeom prst="roundRect">
            <a:avLst>
              <a:gd name="adj" fmla="val 50000"/>
            </a:avLst>
          </a:prstGeom>
          <a:solidFill>
            <a:srgbClr val="E08A00"/>
          </a:solidFill>
          <a:ln/>
        </p:spPr>
        <p:txBody>
          <a:bodyPr/>
          <a:lstStyle/>
          <a:p>
            <a:endParaRPr lang="en-IN"/>
          </a:p>
        </p:txBody>
      </p:sp>
      <p:sp>
        <p:nvSpPr>
          <p:cNvPr id="24" name="Text 21"/>
          <p:cNvSpPr txBox="1"/>
          <p:nvPr/>
        </p:nvSpPr>
        <p:spPr>
          <a:xfrm>
            <a:off x="10088575" y="3639312"/>
            <a:ext cx="13258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Poppins ExtraBold" pitchFamily="34" charset="0"/>
                <a:ea typeface="Poppins ExtraBold" pitchFamily="34" charset="-122"/>
                <a:cs typeface="Poppins ExtraBold" pitchFamily="34" charset="-120"/>
              </a:rPr>
              <a:t>stopped</a:t>
            </a:r>
            <a:endParaRPr lang="en-US" sz="900" dirty="0"/>
          </a:p>
        </p:txBody>
      </p:sp>
      <p:sp>
        <p:nvSpPr>
          <p:cNvPr id="25" name="Text 22"/>
          <p:cNvSpPr txBox="1"/>
          <p:nvPr/>
        </p:nvSpPr>
        <p:spPr>
          <a:xfrm>
            <a:off x="7040880" y="4133088"/>
            <a:ext cx="320040" cy="365760"/>
          </a:xfrm>
          <a:prstGeom prst="rect">
            <a:avLst/>
          </a:prstGeom>
          <a:noFill/>
          <a:ln/>
        </p:spPr>
        <p:txBody>
          <a:bodyPr wrap="square" lIns="0" tIns="0" rIns="0" bIns="0" rtlCol="0" anchor="ctr"/>
          <a:lstStyle/>
          <a:p>
            <a:pPr marL="0" indent="0">
              <a:buNone/>
            </a:pPr>
            <a:r>
              <a:rPr lang="en-US" sz="1300" dirty="0">
                <a:solidFill>
                  <a:srgbClr val="F0603A"/>
                </a:solidFill>
                <a:latin typeface="Archivo Black" pitchFamily="34" charset="0"/>
                <a:ea typeface="Archivo Black" pitchFamily="34" charset="-122"/>
                <a:cs typeface="Archivo Black" pitchFamily="34" charset="-120"/>
              </a:rPr>
              <a:t>5</a:t>
            </a:r>
            <a:endParaRPr lang="en-US" sz="1300" dirty="0"/>
          </a:p>
        </p:txBody>
      </p:sp>
      <p:sp>
        <p:nvSpPr>
          <p:cNvPr id="26" name="Text 23"/>
          <p:cNvSpPr txBox="1"/>
          <p:nvPr/>
        </p:nvSpPr>
        <p:spPr>
          <a:xfrm>
            <a:off x="7406640" y="4133088"/>
            <a:ext cx="2819095" cy="365760"/>
          </a:xfrm>
          <a:prstGeom prst="rect">
            <a:avLst/>
          </a:prstGeom>
          <a:noFill/>
          <a:ln/>
        </p:spPr>
        <p:txBody>
          <a:bodyPr wrap="square" lIns="0" tIns="0" rIns="0" bIns="0" rtlCol="0" anchor="ctr"/>
          <a:lstStyle/>
          <a:p>
            <a:pPr marL="0" indent="0">
              <a:buNone/>
            </a:pPr>
            <a:r>
              <a:rPr lang="en-US" sz="1200" dirty="0">
                <a:solidFill>
                  <a:srgbClr val="121712"/>
                </a:solidFill>
                <a:latin typeface="Poppins SemiBold" pitchFamily="34" charset="0"/>
                <a:ea typeface="Poppins SemiBold" pitchFamily="34" charset="-122"/>
                <a:cs typeface="Poppins SemiBold" pitchFamily="34" charset="-120"/>
              </a:rPr>
              <a:t>High-value case</a:t>
            </a:r>
            <a:endParaRPr lang="en-US" sz="1200" dirty="0"/>
          </a:p>
        </p:txBody>
      </p:sp>
      <p:sp>
        <p:nvSpPr>
          <p:cNvPr id="27" name="Shape 24"/>
          <p:cNvSpPr/>
          <p:nvPr/>
        </p:nvSpPr>
        <p:spPr>
          <a:xfrm>
            <a:off x="10088575" y="4169664"/>
            <a:ext cx="1325880" cy="310896"/>
          </a:xfrm>
          <a:prstGeom prst="roundRect">
            <a:avLst>
              <a:gd name="adj" fmla="val 50000"/>
            </a:avLst>
          </a:prstGeom>
          <a:solidFill>
            <a:srgbClr val="B98AF0"/>
          </a:solidFill>
          <a:ln/>
        </p:spPr>
        <p:txBody>
          <a:bodyPr/>
          <a:lstStyle/>
          <a:p>
            <a:endParaRPr lang="en-IN"/>
          </a:p>
        </p:txBody>
      </p:sp>
      <p:sp>
        <p:nvSpPr>
          <p:cNvPr id="28" name="Text 25"/>
          <p:cNvSpPr txBox="1"/>
          <p:nvPr/>
        </p:nvSpPr>
        <p:spPr>
          <a:xfrm>
            <a:off x="10088575" y="4169664"/>
            <a:ext cx="13258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Poppins ExtraBold" pitchFamily="34" charset="0"/>
                <a:ea typeface="Poppins ExtraBold" pitchFamily="34" charset="-122"/>
                <a:cs typeface="Poppins ExtraBold" pitchFamily="34" charset="-120"/>
              </a:rPr>
              <a:t>escalated</a:t>
            </a:r>
            <a:endParaRPr lang="en-US" sz="900" dirty="0"/>
          </a:p>
        </p:txBody>
      </p:sp>
      <p:sp>
        <p:nvSpPr>
          <p:cNvPr id="29" name="Text 26"/>
          <p:cNvSpPr txBox="1"/>
          <p:nvPr/>
        </p:nvSpPr>
        <p:spPr>
          <a:xfrm>
            <a:off x="7040880" y="4663440"/>
            <a:ext cx="320040" cy="365760"/>
          </a:xfrm>
          <a:prstGeom prst="rect">
            <a:avLst/>
          </a:prstGeom>
          <a:noFill/>
          <a:ln/>
        </p:spPr>
        <p:txBody>
          <a:bodyPr wrap="square" lIns="0" tIns="0" rIns="0" bIns="0" rtlCol="0" anchor="ctr"/>
          <a:lstStyle/>
          <a:p>
            <a:pPr marL="0" indent="0">
              <a:buNone/>
            </a:pPr>
            <a:r>
              <a:rPr lang="en-US" sz="1300" dirty="0">
                <a:solidFill>
                  <a:srgbClr val="F0603A"/>
                </a:solidFill>
                <a:latin typeface="Archivo Black" pitchFamily="34" charset="0"/>
                <a:ea typeface="Archivo Black" pitchFamily="34" charset="-122"/>
                <a:cs typeface="Archivo Black" pitchFamily="34" charset="-120"/>
              </a:rPr>
              <a:t>6</a:t>
            </a:r>
            <a:endParaRPr lang="en-US" sz="1300" dirty="0"/>
          </a:p>
        </p:txBody>
      </p:sp>
      <p:sp>
        <p:nvSpPr>
          <p:cNvPr id="30" name="Text 27"/>
          <p:cNvSpPr txBox="1"/>
          <p:nvPr/>
        </p:nvSpPr>
        <p:spPr>
          <a:xfrm>
            <a:off x="7406640" y="4663440"/>
            <a:ext cx="2819095" cy="365760"/>
          </a:xfrm>
          <a:prstGeom prst="rect">
            <a:avLst/>
          </a:prstGeom>
          <a:noFill/>
          <a:ln/>
        </p:spPr>
        <p:txBody>
          <a:bodyPr wrap="square" lIns="0" tIns="0" rIns="0" bIns="0" rtlCol="0" anchor="ctr"/>
          <a:lstStyle/>
          <a:p>
            <a:pPr marL="0" indent="0">
              <a:buNone/>
            </a:pPr>
            <a:r>
              <a:rPr lang="en-US" sz="1200" dirty="0">
                <a:solidFill>
                  <a:srgbClr val="121712"/>
                </a:solidFill>
                <a:latin typeface="Poppins SemiBold" pitchFamily="34" charset="0"/>
                <a:ea typeface="Poppins SemiBold" pitchFamily="34" charset="-122"/>
                <a:cs typeface="Poppins SemiBold" pitchFamily="34" charset="-120"/>
              </a:rPr>
              <a:t>Refund lands</a:t>
            </a:r>
            <a:endParaRPr lang="en-US" sz="1200" dirty="0"/>
          </a:p>
        </p:txBody>
      </p:sp>
      <p:sp>
        <p:nvSpPr>
          <p:cNvPr id="31" name="Shape 28"/>
          <p:cNvSpPr/>
          <p:nvPr/>
        </p:nvSpPr>
        <p:spPr>
          <a:xfrm>
            <a:off x="10088575" y="4700016"/>
            <a:ext cx="1325880" cy="310896"/>
          </a:xfrm>
          <a:prstGeom prst="roundRect">
            <a:avLst>
              <a:gd name="adj" fmla="val 50000"/>
            </a:avLst>
          </a:prstGeom>
          <a:solidFill>
            <a:srgbClr val="2F6BE0"/>
          </a:solidFill>
          <a:ln/>
        </p:spPr>
        <p:txBody>
          <a:bodyPr/>
          <a:lstStyle/>
          <a:p>
            <a:endParaRPr lang="en-IN"/>
          </a:p>
        </p:txBody>
      </p:sp>
      <p:sp>
        <p:nvSpPr>
          <p:cNvPr id="32" name="Text 29"/>
          <p:cNvSpPr txBox="1"/>
          <p:nvPr/>
        </p:nvSpPr>
        <p:spPr>
          <a:xfrm>
            <a:off x="10088575" y="4700016"/>
            <a:ext cx="13258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Poppins ExtraBold" pitchFamily="34" charset="0"/>
                <a:ea typeface="Poppins ExtraBold" pitchFamily="34" charset="-122"/>
                <a:cs typeface="Poppins ExtraBold" pitchFamily="34" charset="-120"/>
              </a:rPr>
              <a:t>subtracted</a:t>
            </a:r>
            <a:endParaRPr lang="en-US" sz="900" dirty="0"/>
          </a:p>
        </p:txBody>
      </p:sp>
      <p:sp>
        <p:nvSpPr>
          <p:cNvPr id="33" name="Shape 30"/>
          <p:cNvSpPr/>
          <p:nvPr/>
        </p:nvSpPr>
        <p:spPr>
          <a:xfrm>
            <a:off x="7040880" y="5285232"/>
            <a:ext cx="4373575" cy="914400"/>
          </a:xfrm>
          <a:prstGeom prst="roundRect">
            <a:avLst>
              <a:gd name="adj" fmla="val 12000"/>
            </a:avLst>
          </a:prstGeom>
          <a:solidFill>
            <a:srgbClr val="0F3D3A"/>
          </a:solidFill>
          <a:ln/>
        </p:spPr>
        <p:txBody>
          <a:bodyPr/>
          <a:lstStyle/>
          <a:p>
            <a:endParaRPr lang="en-IN"/>
          </a:p>
        </p:txBody>
      </p:sp>
      <p:sp>
        <p:nvSpPr>
          <p:cNvPr id="34" name="Text 31"/>
          <p:cNvSpPr txBox="1"/>
          <p:nvPr/>
        </p:nvSpPr>
        <p:spPr>
          <a:xfrm>
            <a:off x="7269480" y="5285232"/>
            <a:ext cx="3916375" cy="914400"/>
          </a:xfrm>
          <a:prstGeom prst="rect">
            <a:avLst/>
          </a:prstGeom>
          <a:noFill/>
          <a:ln/>
        </p:spPr>
        <p:txBody>
          <a:bodyPr wrap="square" lIns="0" tIns="0" rIns="0" bIns="0" rtlCol="0" anchor="ctr"/>
          <a:lstStyle/>
          <a:p>
            <a:pPr marL="0" indent="0">
              <a:buNone/>
            </a:pPr>
            <a:r>
              <a:rPr lang="en-US" sz="1400" dirty="0">
                <a:solidFill>
                  <a:srgbClr val="C3E84C"/>
                </a:solidFill>
                <a:latin typeface="Poppins ExtraBold" pitchFamily="34" charset="0"/>
                <a:ea typeface="Poppins ExtraBold" pitchFamily="34" charset="-122"/>
                <a:cs typeface="Poppins ExtraBold" pitchFamily="34" charset="-120"/>
              </a:rPr>
              <a:t>+ ₹35.7K incremental — vs matched holdout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T H E   N U M B E R S</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579120" y="1012428"/>
            <a:ext cx="4572000" cy="1463040"/>
          </a:xfrm>
          <a:prstGeom prst="rect">
            <a:avLst/>
          </a:prstGeom>
          <a:noFill/>
          <a:ln/>
        </p:spPr>
        <p:txBody>
          <a:bodyPr wrap="square" lIns="0" tIns="0" rIns="0" bIns="0" rtlCol="0" anchor="ctr"/>
          <a:lstStyle/>
          <a:p>
            <a:pPr marL="0" indent="0">
              <a:lnSpc>
                <a:spcPts val="4000"/>
              </a:lnSpc>
              <a:buNone/>
            </a:pPr>
            <a:r>
              <a:rPr lang="en-US" sz="4000" dirty="0">
                <a:solidFill>
                  <a:srgbClr val="EFE6D3"/>
                </a:solidFill>
                <a:latin typeface="Archivo Black" pitchFamily="34" charset="0"/>
                <a:ea typeface="Archivo Black" pitchFamily="34" charset="-122"/>
                <a:cs typeface="Archivo Black" pitchFamily="34" charset="-120"/>
              </a:rPr>
              <a:t>Prove every rupee.</a:t>
            </a:r>
            <a:endParaRPr lang="en-US" sz="4000" dirty="0"/>
          </a:p>
        </p:txBody>
      </p:sp>
      <p:sp>
        <p:nvSpPr>
          <p:cNvPr id="5" name="Text 3"/>
          <p:cNvSpPr txBox="1"/>
          <p:nvPr/>
        </p:nvSpPr>
        <p:spPr>
          <a:xfrm>
            <a:off x="579120" y="2340864"/>
            <a:ext cx="3947160" cy="2505456"/>
          </a:xfrm>
          <a:prstGeom prst="rect">
            <a:avLst/>
          </a:prstGeom>
          <a:noFill/>
          <a:ln/>
        </p:spPr>
        <p:txBody>
          <a:bodyPr wrap="square" lIns="0" tIns="0" rIns="0" bIns="0" rtlCol="0" anchor="t"/>
          <a:lstStyle/>
          <a:p>
            <a:pPr marL="0" indent="0">
              <a:lnSpc>
                <a:spcPts val="1550"/>
              </a:lnSpc>
              <a:buNone/>
            </a:pPr>
            <a:r>
              <a:rPr lang="en-US" sz="1150" dirty="0">
                <a:solidFill>
                  <a:srgbClr val="9DBCB4"/>
                </a:solidFill>
                <a:latin typeface="Poppins Medium" pitchFamily="34" charset="0"/>
                <a:ea typeface="Poppins Medium" pitchFamily="34" charset="-122"/>
                <a:cs typeface="Poppins Medium" pitchFamily="34" charset="-120"/>
              </a:rPr>
              <a:t>Every figure here comes from the demo dataset and is labelled as such in-app. Gross is what we captured. Incremental is gross minus the holdout baseline. Net subtracts refunds, fees, and discounts back out. We never present a model’s confidence as if it were revenue.</a:t>
            </a:r>
            <a:endParaRPr lang="en-US" sz="1150" dirty="0"/>
          </a:p>
        </p:txBody>
      </p:sp>
      <p:sp>
        <p:nvSpPr>
          <p:cNvPr id="6" name="Shape 4"/>
          <p:cNvSpPr/>
          <p:nvPr/>
        </p:nvSpPr>
        <p:spPr>
          <a:xfrm>
            <a:off x="610090" y="3986979"/>
            <a:ext cx="3657600" cy="960120"/>
          </a:xfrm>
          <a:prstGeom prst="roundRect">
            <a:avLst>
              <a:gd name="adj" fmla="val 11429"/>
            </a:avLst>
          </a:prstGeom>
          <a:solidFill>
            <a:srgbClr val="0F3D3A"/>
          </a:solidFill>
          <a:ln/>
        </p:spPr>
        <p:txBody>
          <a:bodyPr/>
          <a:lstStyle/>
          <a:p>
            <a:endParaRPr lang="en-IN"/>
          </a:p>
        </p:txBody>
      </p:sp>
      <p:sp>
        <p:nvSpPr>
          <p:cNvPr id="7" name="Text 5"/>
          <p:cNvSpPr txBox="1"/>
          <p:nvPr/>
        </p:nvSpPr>
        <p:spPr>
          <a:xfrm>
            <a:off x="884410" y="4133283"/>
            <a:ext cx="3200400" cy="274320"/>
          </a:xfrm>
          <a:prstGeom prst="rect">
            <a:avLst/>
          </a:prstGeom>
          <a:noFill/>
          <a:ln/>
        </p:spPr>
        <p:txBody>
          <a:bodyPr wrap="square" lIns="0" tIns="0" rIns="0" bIns="0" rtlCol="0" anchor="ctr"/>
          <a:lstStyle/>
          <a:p>
            <a:pPr marL="0" indent="0">
              <a:buNone/>
            </a:pPr>
            <a:r>
              <a:rPr lang="en-US" sz="1050" kern="0" spc="100" dirty="0">
                <a:solidFill>
                  <a:srgbClr val="C3E84C"/>
                </a:solidFill>
                <a:latin typeface="Poppins ExtraBold" pitchFamily="34" charset="0"/>
                <a:ea typeface="Poppins ExtraBold" pitchFamily="34" charset="-122"/>
                <a:cs typeface="Poppins ExtraBold" pitchFamily="34" charset="-120"/>
              </a:rPr>
              <a:t>AT-RISK REVENUE</a:t>
            </a:r>
            <a:endParaRPr lang="en-US" sz="1050" dirty="0"/>
          </a:p>
        </p:txBody>
      </p:sp>
      <p:sp>
        <p:nvSpPr>
          <p:cNvPr id="8" name="Text 6"/>
          <p:cNvSpPr txBox="1"/>
          <p:nvPr/>
        </p:nvSpPr>
        <p:spPr>
          <a:xfrm>
            <a:off x="884410" y="4389315"/>
            <a:ext cx="3200400" cy="502920"/>
          </a:xfrm>
          <a:prstGeom prst="rect">
            <a:avLst/>
          </a:prstGeom>
          <a:noFill/>
          <a:ln/>
        </p:spPr>
        <p:txBody>
          <a:bodyPr wrap="square" lIns="0" tIns="0" rIns="0" bIns="0" rtlCol="0" anchor="ctr"/>
          <a:lstStyle/>
          <a:p>
            <a:pPr marL="0" indent="0">
              <a:buNone/>
            </a:pPr>
            <a:r>
              <a:rPr lang="en-US" sz="2600" dirty="0">
                <a:solidFill>
                  <a:srgbClr val="EFE6D3"/>
                </a:solidFill>
                <a:latin typeface="Archivo Black" pitchFamily="34" charset="0"/>
                <a:ea typeface="Archivo Black" pitchFamily="34" charset="-122"/>
                <a:cs typeface="Archivo Black" pitchFamily="34" charset="-120"/>
              </a:rPr>
              <a:t>₹1.95L</a:t>
            </a:r>
            <a:endParaRPr lang="en-US" sz="2600" dirty="0"/>
          </a:p>
        </p:txBody>
      </p:sp>
      <p:sp>
        <p:nvSpPr>
          <p:cNvPr id="9" name="Shape 7"/>
          <p:cNvSpPr/>
          <p:nvPr/>
        </p:nvSpPr>
        <p:spPr>
          <a:xfrm>
            <a:off x="610090" y="5129979"/>
            <a:ext cx="3657600" cy="960120"/>
          </a:xfrm>
          <a:prstGeom prst="roundRect">
            <a:avLst>
              <a:gd name="adj" fmla="val 11429"/>
            </a:avLst>
          </a:prstGeom>
          <a:solidFill>
            <a:srgbClr val="F0603A"/>
          </a:solidFill>
          <a:ln/>
        </p:spPr>
        <p:txBody>
          <a:bodyPr/>
          <a:lstStyle/>
          <a:p>
            <a:endParaRPr lang="en-IN"/>
          </a:p>
        </p:txBody>
      </p:sp>
      <p:sp>
        <p:nvSpPr>
          <p:cNvPr id="10" name="Text 8"/>
          <p:cNvSpPr txBox="1"/>
          <p:nvPr/>
        </p:nvSpPr>
        <p:spPr>
          <a:xfrm>
            <a:off x="884410" y="5276283"/>
            <a:ext cx="3200400" cy="274320"/>
          </a:xfrm>
          <a:prstGeom prst="rect">
            <a:avLst/>
          </a:prstGeom>
          <a:noFill/>
          <a:ln/>
        </p:spPr>
        <p:txBody>
          <a:bodyPr wrap="square" lIns="0" tIns="0" rIns="0" bIns="0" rtlCol="0" anchor="ctr"/>
          <a:lstStyle/>
          <a:p>
            <a:pPr marL="0" indent="0">
              <a:buNone/>
            </a:pPr>
            <a:r>
              <a:rPr lang="en-US" sz="1050" kern="0" spc="100" dirty="0">
                <a:solidFill>
                  <a:srgbClr val="EFE6D3"/>
                </a:solidFill>
                <a:latin typeface="Poppins ExtraBold" pitchFamily="34" charset="0"/>
                <a:ea typeface="Poppins ExtraBold" pitchFamily="34" charset="-122"/>
                <a:cs typeface="Poppins ExtraBold" pitchFamily="34" charset="-120"/>
              </a:rPr>
              <a:t>NET RECOVERED</a:t>
            </a:r>
            <a:endParaRPr lang="en-US" sz="1050" dirty="0"/>
          </a:p>
        </p:txBody>
      </p:sp>
      <p:sp>
        <p:nvSpPr>
          <p:cNvPr id="11" name="Text 9"/>
          <p:cNvSpPr txBox="1"/>
          <p:nvPr/>
        </p:nvSpPr>
        <p:spPr>
          <a:xfrm>
            <a:off x="884410" y="5532315"/>
            <a:ext cx="3200400" cy="502920"/>
          </a:xfrm>
          <a:prstGeom prst="rect">
            <a:avLst/>
          </a:prstGeom>
          <a:noFill/>
          <a:ln/>
        </p:spPr>
        <p:txBody>
          <a:bodyPr wrap="square" lIns="0" tIns="0" rIns="0" bIns="0" rtlCol="0" anchor="ctr"/>
          <a:lstStyle/>
          <a:p>
            <a:pPr marL="0" indent="0">
              <a:buNone/>
            </a:pPr>
            <a:r>
              <a:rPr lang="en-US" sz="2600" dirty="0">
                <a:solidFill>
                  <a:srgbClr val="EFE6D3"/>
                </a:solidFill>
                <a:latin typeface="Archivo Black" pitchFamily="34" charset="0"/>
                <a:ea typeface="Archivo Black" pitchFamily="34" charset="-122"/>
                <a:cs typeface="Archivo Black" pitchFamily="34" charset="-120"/>
              </a:rPr>
              <a:t>₹38.7K</a:t>
            </a:r>
            <a:endParaRPr lang="en-US" sz="2600" dirty="0"/>
          </a:p>
        </p:txBody>
      </p:sp>
      <p:sp>
        <p:nvSpPr>
          <p:cNvPr id="12" name="Shape 10"/>
          <p:cNvSpPr/>
          <p:nvPr/>
        </p:nvSpPr>
        <p:spPr>
          <a:xfrm>
            <a:off x="4885648" y="1149882"/>
            <a:ext cx="6766560" cy="4937760"/>
          </a:xfrm>
          <a:prstGeom prst="roundRect">
            <a:avLst>
              <a:gd name="adj" fmla="val 2593"/>
            </a:avLst>
          </a:prstGeom>
          <a:solidFill>
            <a:srgbClr val="EFE6D3"/>
          </a:solidFill>
          <a:ln/>
        </p:spPr>
        <p:txBody>
          <a:bodyPr/>
          <a:lstStyle/>
          <a:p>
            <a:endParaRPr lang="en-IN"/>
          </a:p>
        </p:txBody>
      </p:sp>
      <p:sp>
        <p:nvSpPr>
          <p:cNvPr id="13" name="Text 11"/>
          <p:cNvSpPr txBox="1"/>
          <p:nvPr/>
        </p:nvSpPr>
        <p:spPr>
          <a:xfrm>
            <a:off x="5251408" y="1396770"/>
            <a:ext cx="5486400" cy="320040"/>
          </a:xfrm>
          <a:prstGeom prst="rect">
            <a:avLst/>
          </a:prstGeom>
          <a:noFill/>
          <a:ln/>
        </p:spPr>
        <p:txBody>
          <a:bodyPr wrap="square" rtlCol="0" anchor="ctr"/>
          <a:lstStyle/>
          <a:p>
            <a:pPr marL="0" indent="0">
              <a:buNone/>
            </a:pPr>
            <a:r>
              <a:rPr lang="en-US" sz="1300" kern="0" spc="100" dirty="0">
                <a:solidFill>
                  <a:srgbClr val="121712"/>
                </a:solidFill>
                <a:latin typeface="Poppins ExtraBold" pitchFamily="34" charset="0"/>
                <a:ea typeface="Poppins ExtraBold" pitchFamily="34" charset="-122"/>
                <a:cs typeface="Poppins ExtraBold" pitchFamily="34" charset="-120"/>
              </a:rPr>
              <a:t>AT-RISK vs RECOVERED, BY LANE</a:t>
            </a:r>
            <a:endParaRPr lang="en-US" sz="1300" dirty="0"/>
          </a:p>
        </p:txBody>
      </p:sp>
      <p:graphicFrame>
        <p:nvGraphicFramePr>
          <p:cNvPr id="14" name="Chart 0"/>
          <p:cNvGraphicFramePr/>
          <p:nvPr>
            <p:extLst>
              <p:ext uri="{D42A27DB-BD31-4B8C-83A1-F6EECF244321}">
                <p14:modId xmlns:p14="http://schemas.microsoft.com/office/powerpoint/2010/main" val="3657442685"/>
              </p:ext>
            </p:extLst>
          </p:nvPr>
        </p:nvGraphicFramePr>
        <p:xfrm>
          <a:off x="5068528" y="1835682"/>
          <a:ext cx="6400800" cy="40233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M E A S U R E D ,   N O T   C L A I M E D</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1C5A54"/>
                </a:solidFill>
                <a:latin typeface="Poppins SemiBold" pitchFamily="34" charset="0"/>
                <a:ea typeface="Poppins SemiBold" pitchFamily="34" charset="-122"/>
                <a:cs typeface="Poppins SemiBold" pitchFamily="34" charset="-120"/>
              </a:rPr>
              <a:t>R E O S   /   2 0 2 6</a:t>
            </a:r>
            <a:endParaRPr lang="en-US" sz="950" dirty="0"/>
          </a:p>
        </p:txBody>
      </p:sp>
      <p:sp>
        <p:nvSpPr>
          <p:cNvPr id="4" name="Text 2"/>
          <p:cNvSpPr txBox="1"/>
          <p:nvPr/>
        </p:nvSpPr>
        <p:spPr>
          <a:xfrm>
            <a:off x="722376" y="914400"/>
            <a:ext cx="10789920" cy="868680"/>
          </a:xfrm>
          <a:prstGeom prst="rect">
            <a:avLst/>
          </a:prstGeom>
          <a:noFill/>
          <a:ln/>
        </p:spPr>
        <p:txBody>
          <a:bodyPr wrap="square" lIns="0" tIns="0" rIns="0" bIns="0" rtlCol="0" anchor="ctr"/>
          <a:lstStyle/>
          <a:p>
            <a:pPr marL="0" indent="0">
              <a:buNone/>
            </a:pPr>
            <a:r>
              <a:rPr lang="en-US" sz="3600" dirty="0">
                <a:solidFill>
                  <a:srgbClr val="121712"/>
                </a:solidFill>
                <a:latin typeface="Archivo Black" pitchFamily="34" charset="0"/>
                <a:ea typeface="Archivo Black" pitchFamily="34" charset="-122"/>
                <a:cs typeface="Archivo Black" pitchFamily="34" charset="-120"/>
              </a:rPr>
              <a:t>Ten measures. one export.</a:t>
            </a:r>
            <a:endParaRPr lang="en-US" sz="3600" dirty="0"/>
          </a:p>
        </p:txBody>
      </p:sp>
      <p:sp>
        <p:nvSpPr>
          <p:cNvPr id="5" name="Text 3"/>
          <p:cNvSpPr txBox="1"/>
          <p:nvPr/>
        </p:nvSpPr>
        <p:spPr>
          <a:xfrm>
            <a:off x="777240" y="1763416"/>
            <a:ext cx="10607040" cy="2377440"/>
          </a:xfrm>
          <a:prstGeom prst="rect">
            <a:avLst/>
          </a:prstGeom>
          <a:noFill/>
          <a:ln/>
        </p:spPr>
        <p:txBody>
          <a:bodyPr wrap="square" lIns="0" tIns="0" rIns="0" bIns="0" rtlCol="0" anchor="t"/>
          <a:lstStyle/>
          <a:p>
            <a:pPr marL="0" indent="0">
              <a:lnSpc>
                <a:spcPts val="1800"/>
              </a:lnSpc>
              <a:buNone/>
            </a:pPr>
            <a:r>
              <a:rPr lang="en-US" sz="1300" dirty="0">
                <a:solidFill>
                  <a:srgbClr val="1C5A54"/>
                </a:solidFill>
                <a:latin typeface="Poppins Medium" pitchFamily="34" charset="0"/>
                <a:ea typeface="Poppins Medium" pitchFamily="34" charset="-122"/>
                <a:cs typeface="Poppins Medium" pitchFamily="34" charset="-120"/>
              </a:rPr>
              <a:t>We do not stop at a headline number. ReOS tracks ten separate measures across opportunity, effectiveness, economics, and safety — and every case can be exported to JSON or CSV in one click, so a finance or compliance team can verify the numbers themselves. Audit completeness is a first-class metric: a case only counts as complete when it has its source event, its decision reason, its tool result, its outcome, and its stop reason.</a:t>
            </a:r>
            <a:endParaRPr lang="en-US" sz="1300" dirty="0"/>
          </a:p>
        </p:txBody>
      </p:sp>
      <p:sp>
        <p:nvSpPr>
          <p:cNvPr id="6" name="Shape 4"/>
          <p:cNvSpPr/>
          <p:nvPr/>
        </p:nvSpPr>
        <p:spPr>
          <a:xfrm>
            <a:off x="777240" y="2926080"/>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7" name="Text 5"/>
          <p:cNvSpPr txBox="1"/>
          <p:nvPr/>
        </p:nvSpPr>
        <p:spPr>
          <a:xfrm>
            <a:off x="978408" y="3054096"/>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At-risk value</a:t>
            </a:r>
            <a:endParaRPr lang="en-US" sz="1250" dirty="0"/>
          </a:p>
        </p:txBody>
      </p:sp>
      <p:sp>
        <p:nvSpPr>
          <p:cNvPr id="8" name="Text 6"/>
          <p:cNvSpPr txBox="1"/>
          <p:nvPr/>
        </p:nvSpPr>
        <p:spPr>
          <a:xfrm>
            <a:off x="978408" y="3383280"/>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opportunity, not success</a:t>
            </a:r>
            <a:endParaRPr lang="en-US" sz="1000" dirty="0"/>
          </a:p>
        </p:txBody>
      </p:sp>
      <p:sp>
        <p:nvSpPr>
          <p:cNvPr id="9" name="Shape 7"/>
          <p:cNvSpPr/>
          <p:nvPr/>
        </p:nvSpPr>
        <p:spPr>
          <a:xfrm>
            <a:off x="3483864" y="2926080"/>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10" name="Text 8"/>
          <p:cNvSpPr txBox="1"/>
          <p:nvPr/>
        </p:nvSpPr>
        <p:spPr>
          <a:xfrm>
            <a:off x="3685032" y="3054096"/>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Eligible rate</a:t>
            </a:r>
            <a:endParaRPr lang="en-US" sz="1250" dirty="0"/>
          </a:p>
        </p:txBody>
      </p:sp>
      <p:sp>
        <p:nvSpPr>
          <p:cNvPr id="11" name="Text 9"/>
          <p:cNvSpPr txBox="1"/>
          <p:nvPr/>
        </p:nvSpPr>
        <p:spPr>
          <a:xfrm>
            <a:off x="3685032" y="3383280"/>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policy discipline</a:t>
            </a:r>
            <a:endParaRPr lang="en-US" sz="1000" dirty="0"/>
          </a:p>
        </p:txBody>
      </p:sp>
      <p:sp>
        <p:nvSpPr>
          <p:cNvPr id="12" name="Shape 10"/>
          <p:cNvSpPr/>
          <p:nvPr/>
        </p:nvSpPr>
        <p:spPr>
          <a:xfrm>
            <a:off x="6190488" y="2926080"/>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13" name="Text 11"/>
          <p:cNvSpPr txBox="1"/>
          <p:nvPr/>
        </p:nvSpPr>
        <p:spPr>
          <a:xfrm>
            <a:off x="6391656" y="3054096"/>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Recovery rate</a:t>
            </a:r>
            <a:endParaRPr lang="en-US" sz="1250" dirty="0"/>
          </a:p>
        </p:txBody>
      </p:sp>
      <p:sp>
        <p:nvSpPr>
          <p:cNvPr id="14" name="Text 12"/>
          <p:cNvSpPr txBox="1"/>
          <p:nvPr/>
        </p:nvSpPr>
        <p:spPr>
          <a:xfrm>
            <a:off x="6391656" y="3383280"/>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operational effectiveness</a:t>
            </a:r>
            <a:endParaRPr lang="en-US" sz="1000" dirty="0"/>
          </a:p>
        </p:txBody>
      </p:sp>
      <p:sp>
        <p:nvSpPr>
          <p:cNvPr id="15" name="Shape 13"/>
          <p:cNvSpPr/>
          <p:nvPr/>
        </p:nvSpPr>
        <p:spPr>
          <a:xfrm>
            <a:off x="8897112" y="2926080"/>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16" name="Text 14"/>
          <p:cNvSpPr txBox="1"/>
          <p:nvPr/>
        </p:nvSpPr>
        <p:spPr>
          <a:xfrm>
            <a:off x="9098280" y="3054096"/>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Gross recovered</a:t>
            </a:r>
            <a:endParaRPr lang="en-US" sz="1250" dirty="0"/>
          </a:p>
        </p:txBody>
      </p:sp>
      <p:sp>
        <p:nvSpPr>
          <p:cNvPr id="17" name="Text 15"/>
          <p:cNvSpPr txBox="1"/>
          <p:nvPr/>
        </p:nvSpPr>
        <p:spPr>
          <a:xfrm>
            <a:off x="9098280" y="3383280"/>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the direct outcome</a:t>
            </a:r>
            <a:endParaRPr lang="en-US" sz="1000" dirty="0"/>
          </a:p>
        </p:txBody>
      </p:sp>
      <p:sp>
        <p:nvSpPr>
          <p:cNvPr id="18" name="Shape 16"/>
          <p:cNvSpPr/>
          <p:nvPr/>
        </p:nvSpPr>
        <p:spPr>
          <a:xfrm>
            <a:off x="777240" y="3995928"/>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19" name="Text 17"/>
          <p:cNvSpPr txBox="1"/>
          <p:nvPr/>
        </p:nvSpPr>
        <p:spPr>
          <a:xfrm>
            <a:off x="978408" y="4123944"/>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Incremental</a:t>
            </a:r>
            <a:endParaRPr lang="en-US" sz="1250" dirty="0"/>
          </a:p>
        </p:txBody>
      </p:sp>
      <p:sp>
        <p:nvSpPr>
          <p:cNvPr id="20" name="Text 18"/>
          <p:cNvSpPr txBox="1"/>
          <p:nvPr/>
        </p:nvSpPr>
        <p:spPr>
          <a:xfrm>
            <a:off x="978408" y="4453128"/>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vs matched holdout</a:t>
            </a:r>
            <a:endParaRPr lang="en-US" sz="1000" dirty="0"/>
          </a:p>
        </p:txBody>
      </p:sp>
      <p:sp>
        <p:nvSpPr>
          <p:cNvPr id="21" name="Shape 19"/>
          <p:cNvSpPr/>
          <p:nvPr/>
        </p:nvSpPr>
        <p:spPr>
          <a:xfrm>
            <a:off x="3483864" y="3995928"/>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22" name="Text 20"/>
          <p:cNvSpPr txBox="1"/>
          <p:nvPr/>
        </p:nvSpPr>
        <p:spPr>
          <a:xfrm>
            <a:off x="3685032" y="4123944"/>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Net recovered</a:t>
            </a:r>
            <a:endParaRPr lang="en-US" sz="1250" dirty="0"/>
          </a:p>
        </p:txBody>
      </p:sp>
      <p:sp>
        <p:nvSpPr>
          <p:cNvPr id="23" name="Text 21"/>
          <p:cNvSpPr txBox="1"/>
          <p:nvPr/>
        </p:nvSpPr>
        <p:spPr>
          <a:xfrm>
            <a:off x="3685032" y="4453128"/>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economics after costs</a:t>
            </a:r>
            <a:endParaRPr lang="en-US" sz="1000" dirty="0"/>
          </a:p>
        </p:txBody>
      </p:sp>
      <p:sp>
        <p:nvSpPr>
          <p:cNvPr id="24" name="Shape 22"/>
          <p:cNvSpPr/>
          <p:nvPr/>
        </p:nvSpPr>
        <p:spPr>
          <a:xfrm>
            <a:off x="6190488" y="3995928"/>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25" name="Text 23"/>
          <p:cNvSpPr txBox="1"/>
          <p:nvPr/>
        </p:nvSpPr>
        <p:spPr>
          <a:xfrm>
            <a:off x="6391656" y="4123944"/>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False-action rate</a:t>
            </a:r>
            <a:endParaRPr lang="en-US" sz="1250" dirty="0"/>
          </a:p>
        </p:txBody>
      </p:sp>
      <p:sp>
        <p:nvSpPr>
          <p:cNvPr id="26" name="Text 24"/>
          <p:cNvSpPr txBox="1"/>
          <p:nvPr/>
        </p:nvSpPr>
        <p:spPr>
          <a:xfrm>
            <a:off x="6391656" y="4453128"/>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financial risk</a:t>
            </a:r>
            <a:endParaRPr lang="en-US" sz="1000" dirty="0"/>
          </a:p>
        </p:txBody>
      </p:sp>
      <p:sp>
        <p:nvSpPr>
          <p:cNvPr id="27" name="Shape 25"/>
          <p:cNvSpPr/>
          <p:nvPr/>
        </p:nvSpPr>
        <p:spPr>
          <a:xfrm>
            <a:off x="8897112" y="3995928"/>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28" name="Text 26"/>
          <p:cNvSpPr txBox="1"/>
          <p:nvPr/>
        </p:nvSpPr>
        <p:spPr>
          <a:xfrm>
            <a:off x="9098280" y="4123944"/>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Customer-harm rate</a:t>
            </a:r>
            <a:endParaRPr lang="en-US" sz="1250" dirty="0"/>
          </a:p>
        </p:txBody>
      </p:sp>
      <p:sp>
        <p:nvSpPr>
          <p:cNvPr id="29" name="Text 27"/>
          <p:cNvSpPr txBox="1"/>
          <p:nvPr/>
        </p:nvSpPr>
        <p:spPr>
          <a:xfrm>
            <a:off x="9098280" y="4453128"/>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trust cost</a:t>
            </a:r>
            <a:endParaRPr lang="en-US" sz="1000" dirty="0"/>
          </a:p>
        </p:txBody>
      </p:sp>
      <p:sp>
        <p:nvSpPr>
          <p:cNvPr id="30" name="Shape 28"/>
          <p:cNvSpPr/>
          <p:nvPr/>
        </p:nvSpPr>
        <p:spPr>
          <a:xfrm>
            <a:off x="777240" y="5065776"/>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31" name="Text 29"/>
          <p:cNvSpPr txBox="1"/>
          <p:nvPr/>
        </p:nvSpPr>
        <p:spPr>
          <a:xfrm>
            <a:off x="978408" y="5193792"/>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Automation vs escalation</a:t>
            </a:r>
            <a:endParaRPr lang="en-US" sz="1250" dirty="0"/>
          </a:p>
        </p:txBody>
      </p:sp>
      <p:sp>
        <p:nvSpPr>
          <p:cNvPr id="32" name="Text 30"/>
          <p:cNvSpPr txBox="1"/>
          <p:nvPr/>
        </p:nvSpPr>
        <p:spPr>
          <a:xfrm>
            <a:off x="978408" y="5522976"/>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where AI helps</a:t>
            </a:r>
            <a:endParaRPr lang="en-US" sz="1000" dirty="0"/>
          </a:p>
        </p:txBody>
      </p:sp>
      <p:sp>
        <p:nvSpPr>
          <p:cNvPr id="33" name="Shape 31"/>
          <p:cNvSpPr/>
          <p:nvPr/>
        </p:nvSpPr>
        <p:spPr>
          <a:xfrm>
            <a:off x="3483864" y="5065776"/>
            <a:ext cx="2487168" cy="868680"/>
          </a:xfrm>
          <a:prstGeom prst="roundRect">
            <a:avLst>
              <a:gd name="adj" fmla="val 10526"/>
            </a:avLst>
          </a:prstGeom>
          <a:solidFill>
            <a:srgbClr val="F3ECDD"/>
          </a:solidFill>
          <a:ln w="12700">
            <a:solidFill>
              <a:srgbClr val="DDD2BB"/>
            </a:solidFill>
            <a:prstDash val="solid"/>
          </a:ln>
        </p:spPr>
        <p:txBody>
          <a:bodyPr/>
          <a:lstStyle/>
          <a:p>
            <a:endParaRPr lang="en-IN"/>
          </a:p>
        </p:txBody>
      </p:sp>
      <p:sp>
        <p:nvSpPr>
          <p:cNvPr id="34" name="Text 32"/>
          <p:cNvSpPr txBox="1"/>
          <p:nvPr/>
        </p:nvSpPr>
        <p:spPr>
          <a:xfrm>
            <a:off x="3685032" y="5193792"/>
            <a:ext cx="2121408" cy="32004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Audit completeness</a:t>
            </a:r>
            <a:endParaRPr lang="en-US" sz="1250" dirty="0"/>
          </a:p>
        </p:txBody>
      </p:sp>
      <p:sp>
        <p:nvSpPr>
          <p:cNvPr id="35" name="Text 33"/>
          <p:cNvSpPr txBox="1"/>
          <p:nvPr/>
        </p:nvSpPr>
        <p:spPr>
          <a:xfrm>
            <a:off x="3685032" y="5522976"/>
            <a:ext cx="2121408" cy="320040"/>
          </a:xfrm>
          <a:prstGeom prst="rect">
            <a:avLst/>
          </a:prstGeom>
          <a:noFill/>
          <a:ln/>
        </p:spPr>
        <p:txBody>
          <a:bodyPr wrap="square" lIns="0" tIns="0" rIns="0" bIns="0" rtlCol="0" anchor="ctr"/>
          <a:lstStyle/>
          <a:p>
            <a:pPr marL="0" indent="0">
              <a:buNone/>
            </a:pPr>
            <a:r>
              <a:rPr lang="en-US" sz="1000" dirty="0">
                <a:solidFill>
                  <a:srgbClr val="1C5A54"/>
                </a:solidFill>
                <a:latin typeface="Poppins Medium" pitchFamily="34" charset="0"/>
                <a:ea typeface="Poppins Medium" pitchFamily="34" charset="-122"/>
                <a:cs typeface="Poppins Medium" pitchFamily="34" charset="-120"/>
              </a:rPr>
              <a:t>proof of traceability</a:t>
            </a:r>
            <a:endParaRPr lang="en-US" sz="1000" dirty="0"/>
          </a:p>
        </p:txBody>
      </p:sp>
      <p:sp>
        <p:nvSpPr>
          <p:cNvPr id="36" name="Shape 34"/>
          <p:cNvSpPr/>
          <p:nvPr/>
        </p:nvSpPr>
        <p:spPr>
          <a:xfrm>
            <a:off x="777240" y="6126480"/>
            <a:ext cx="3381451" cy="402336"/>
          </a:xfrm>
          <a:prstGeom prst="roundRect">
            <a:avLst>
              <a:gd name="adj" fmla="val 50000"/>
            </a:avLst>
          </a:prstGeom>
          <a:solidFill>
            <a:srgbClr val="0F3D3A"/>
          </a:solidFill>
          <a:ln/>
        </p:spPr>
        <p:txBody>
          <a:bodyPr/>
          <a:lstStyle/>
          <a:p>
            <a:endParaRPr lang="en-IN"/>
          </a:p>
        </p:txBody>
      </p:sp>
      <p:sp>
        <p:nvSpPr>
          <p:cNvPr id="37" name="Text 35"/>
          <p:cNvSpPr txBox="1"/>
          <p:nvPr/>
        </p:nvSpPr>
        <p:spPr>
          <a:xfrm>
            <a:off x="777240" y="6126480"/>
            <a:ext cx="3381451" cy="402336"/>
          </a:xfrm>
          <a:prstGeom prst="rect">
            <a:avLst/>
          </a:prstGeom>
          <a:noFill/>
          <a:ln/>
        </p:spPr>
        <p:txBody>
          <a:bodyPr wrap="square" lIns="0" tIns="0" rIns="0" bIns="0" rtlCol="0" anchor="ctr"/>
          <a:lstStyle/>
          <a:p>
            <a:pPr marL="0" indent="0" algn="ctr">
              <a:buNone/>
            </a:pPr>
            <a:r>
              <a:rPr lang="en-US" sz="1000" kern="0" spc="100" dirty="0">
                <a:solidFill>
                  <a:srgbClr val="EFE6D3"/>
                </a:solidFill>
                <a:latin typeface="Poppins SemiBold" pitchFamily="34" charset="0"/>
                <a:ea typeface="Poppins SemiBold" pitchFamily="34" charset="-122"/>
                <a:cs typeface="Poppins SemiBold" pitchFamily="34" charset="-120"/>
              </a:rPr>
              <a:t>  ONE-CLICK AUDIT EXPORT · JSON + CSV  </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82735" y="0"/>
            <a:ext cx="3108960" cy="6858000"/>
          </a:xfrm>
          <a:prstGeom prst="rect">
            <a:avLst/>
          </a:prstGeom>
          <a:solidFill>
            <a:srgbClr val="C3E84C"/>
          </a:solidFill>
          <a:ln/>
        </p:spPr>
        <p:txBody>
          <a:bodyPr/>
          <a:lstStyle/>
          <a:p>
            <a:endParaRPr lang="en-IN"/>
          </a:p>
        </p:txBody>
      </p:sp>
      <p:sp>
        <p:nvSpPr>
          <p:cNvPr id="3" name="Text 1"/>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1C5A54"/>
                </a:solidFill>
                <a:latin typeface="Poppins SemiBold" pitchFamily="34" charset="0"/>
                <a:ea typeface="Poppins SemiBold" pitchFamily="34" charset="-122"/>
                <a:cs typeface="Poppins SemiBold" pitchFamily="34" charset="-120"/>
              </a:rPr>
              <a:t>T H E   P R O D U C T</a:t>
            </a:r>
            <a:endParaRPr lang="en-US" sz="950" dirty="0"/>
          </a:p>
        </p:txBody>
      </p:sp>
      <p:sp>
        <p:nvSpPr>
          <p:cNvPr id="4" name="Text 2"/>
          <p:cNvSpPr txBox="1"/>
          <p:nvPr/>
        </p:nvSpPr>
        <p:spPr>
          <a:xfrm>
            <a:off x="5928055" y="384048"/>
            <a:ext cx="5486400" cy="274320"/>
          </a:xfrm>
          <a:prstGeom prst="rect">
            <a:avLst/>
          </a:prstGeom>
          <a:noFill/>
          <a:ln/>
        </p:spPr>
        <p:txBody>
          <a:bodyPr wrap="square" rtlCol="0" anchor="ctr"/>
          <a:lstStyle/>
          <a:p>
            <a:pPr marL="0" indent="0" algn="r">
              <a:buNone/>
            </a:pPr>
            <a:endParaRPr lang="en-US" sz="950" dirty="0"/>
          </a:p>
        </p:txBody>
      </p:sp>
      <p:sp>
        <p:nvSpPr>
          <p:cNvPr id="5" name="Text 3"/>
          <p:cNvSpPr txBox="1"/>
          <p:nvPr/>
        </p:nvSpPr>
        <p:spPr>
          <a:xfrm>
            <a:off x="722376" y="868680"/>
            <a:ext cx="8229600" cy="868680"/>
          </a:xfrm>
          <a:prstGeom prst="rect">
            <a:avLst/>
          </a:prstGeom>
          <a:noFill/>
          <a:ln/>
        </p:spPr>
        <p:txBody>
          <a:bodyPr wrap="square" lIns="0" tIns="0" rIns="0" bIns="0" rtlCol="0" anchor="ctr"/>
          <a:lstStyle/>
          <a:p>
            <a:pPr marL="0" indent="0">
              <a:buNone/>
            </a:pPr>
            <a:r>
              <a:rPr lang="en-US" sz="4000" dirty="0">
                <a:solidFill>
                  <a:srgbClr val="121712"/>
                </a:solidFill>
                <a:latin typeface="Archivo Black" pitchFamily="34" charset="0"/>
                <a:ea typeface="Archivo Black" pitchFamily="34" charset="-122"/>
                <a:cs typeface="Archivo Black" pitchFamily="34" charset="-120"/>
              </a:rPr>
              <a:t>Role-based and</a:t>
            </a:r>
            <a:endParaRPr lang="en-US" sz="4000" dirty="0"/>
          </a:p>
        </p:txBody>
      </p:sp>
      <p:sp>
        <p:nvSpPr>
          <p:cNvPr id="6" name="Text 4"/>
          <p:cNvSpPr txBox="1"/>
          <p:nvPr/>
        </p:nvSpPr>
        <p:spPr>
          <a:xfrm>
            <a:off x="722376" y="1600200"/>
            <a:ext cx="8412480" cy="868680"/>
          </a:xfrm>
          <a:prstGeom prst="rect">
            <a:avLst/>
          </a:prstGeom>
          <a:noFill/>
          <a:ln/>
        </p:spPr>
        <p:txBody>
          <a:bodyPr wrap="square" lIns="0" tIns="0" rIns="0" bIns="0" rtlCol="0" anchor="ctr"/>
          <a:lstStyle/>
          <a:p>
            <a:pPr marL="0" indent="0">
              <a:buNone/>
            </a:pPr>
            <a:r>
              <a:rPr lang="en-US" sz="4000" dirty="0">
                <a:solidFill>
                  <a:srgbClr val="121712"/>
                </a:solidFill>
                <a:latin typeface="Archivo Black" pitchFamily="34" charset="0"/>
                <a:ea typeface="Archivo Black" pitchFamily="34" charset="-122"/>
                <a:cs typeface="Archivo Black" pitchFamily="34" charset="-120"/>
              </a:rPr>
              <a:t>genuinely usable.</a:t>
            </a:r>
            <a:endParaRPr lang="en-US" sz="4000" dirty="0"/>
          </a:p>
        </p:txBody>
      </p:sp>
      <p:sp>
        <p:nvSpPr>
          <p:cNvPr id="7" name="Text 5"/>
          <p:cNvSpPr txBox="1"/>
          <p:nvPr/>
        </p:nvSpPr>
        <p:spPr>
          <a:xfrm>
            <a:off x="777240" y="2560320"/>
            <a:ext cx="8229600" cy="2377440"/>
          </a:xfrm>
          <a:prstGeom prst="rect">
            <a:avLst/>
          </a:prstGeom>
          <a:noFill/>
          <a:ln/>
        </p:spPr>
        <p:txBody>
          <a:bodyPr wrap="square" lIns="0" tIns="0" rIns="0" bIns="0" rtlCol="0" anchor="t"/>
          <a:lstStyle/>
          <a:p>
            <a:pPr marL="0" indent="0">
              <a:lnSpc>
                <a:spcPts val="1700"/>
              </a:lnSpc>
              <a:buNone/>
            </a:pPr>
            <a:r>
              <a:rPr lang="en-US" sz="1250" dirty="0">
                <a:solidFill>
                  <a:srgbClr val="1C5A54"/>
                </a:solidFill>
                <a:latin typeface="Poppins Medium" pitchFamily="34" charset="0"/>
                <a:ea typeface="Poppins Medium" pitchFamily="34" charset="-122"/>
                <a:cs typeface="Poppins Medium" pitchFamily="34" charset="-120"/>
              </a:rPr>
              <a:t>ReOS is not a demo shell — it is a real, role-based console with more than ten working screens. Four logins each get a tailored view: an Admin who owns policy, an Operator who works the case queue, an Analyst who reads the ledger, and an Auditor who traces every decision. And built in is Baymax, an in-app assistant powered by Google Gemini with an offline fallback, so anyone on the team can ask what a screen does or why a case was decided the way it was.</a:t>
            </a:r>
            <a:endParaRPr lang="en-US" sz="1250" dirty="0"/>
          </a:p>
        </p:txBody>
      </p:sp>
      <p:sp>
        <p:nvSpPr>
          <p:cNvPr id="8" name="Shape 6"/>
          <p:cNvSpPr/>
          <p:nvPr/>
        </p:nvSpPr>
        <p:spPr>
          <a:xfrm>
            <a:off x="777240" y="3977640"/>
            <a:ext cx="3931920" cy="1371600"/>
          </a:xfrm>
          <a:prstGeom prst="roundRect">
            <a:avLst>
              <a:gd name="adj" fmla="val 8000"/>
            </a:avLst>
          </a:prstGeom>
          <a:solidFill>
            <a:srgbClr val="0F3D3A"/>
          </a:solidFill>
          <a:ln/>
        </p:spPr>
        <p:txBody>
          <a:bodyPr/>
          <a:lstStyle/>
          <a:p>
            <a:endParaRPr lang="en-IN"/>
          </a:p>
        </p:txBody>
      </p:sp>
      <p:sp>
        <p:nvSpPr>
          <p:cNvPr id="9" name="Text 7"/>
          <p:cNvSpPr txBox="1"/>
          <p:nvPr/>
        </p:nvSpPr>
        <p:spPr>
          <a:xfrm>
            <a:off x="1051560" y="4160520"/>
            <a:ext cx="3474720" cy="274320"/>
          </a:xfrm>
          <a:prstGeom prst="rect">
            <a:avLst/>
          </a:prstGeom>
          <a:noFill/>
          <a:ln/>
        </p:spPr>
        <p:txBody>
          <a:bodyPr wrap="square" lIns="0" tIns="0" rIns="0" bIns="0" rtlCol="0" anchor="ctr"/>
          <a:lstStyle/>
          <a:p>
            <a:pPr marL="0" indent="0">
              <a:buNone/>
            </a:pPr>
            <a:r>
              <a:rPr lang="en-US" sz="1100" kern="0" spc="100" dirty="0">
                <a:solidFill>
                  <a:srgbClr val="C3E84C"/>
                </a:solidFill>
                <a:latin typeface="Poppins ExtraBold" pitchFamily="34" charset="0"/>
                <a:ea typeface="Poppins ExtraBold" pitchFamily="34" charset="-122"/>
                <a:cs typeface="Poppins ExtraBold" pitchFamily="34" charset="-120"/>
              </a:rPr>
              <a:t>ADMIN &amp; OPERATOR</a:t>
            </a:r>
            <a:endParaRPr lang="en-US" sz="1100" dirty="0"/>
          </a:p>
        </p:txBody>
      </p:sp>
      <p:sp>
        <p:nvSpPr>
          <p:cNvPr id="10" name="Text 8"/>
          <p:cNvSpPr txBox="1"/>
          <p:nvPr/>
        </p:nvSpPr>
        <p:spPr>
          <a:xfrm>
            <a:off x="1051560" y="4453128"/>
            <a:ext cx="3474720" cy="731520"/>
          </a:xfrm>
          <a:prstGeom prst="rect">
            <a:avLst/>
          </a:prstGeom>
          <a:noFill/>
          <a:ln/>
        </p:spPr>
        <p:txBody>
          <a:bodyPr wrap="square" lIns="0" tIns="0" rIns="0" bIns="0" rtlCol="0" anchor="ctr"/>
          <a:lstStyle/>
          <a:p>
            <a:pPr marL="0" indent="0">
              <a:lnSpc>
                <a:spcPts val="1500"/>
              </a:lnSpc>
              <a:buNone/>
            </a:pPr>
            <a:r>
              <a:rPr lang="en-US" sz="1150" dirty="0">
                <a:solidFill>
                  <a:srgbClr val="EFE6D3"/>
                </a:solidFill>
                <a:latin typeface="Poppins Medium" pitchFamily="34" charset="0"/>
                <a:ea typeface="Poppins Medium" pitchFamily="34" charset="-122"/>
                <a:cs typeface="Poppins Medium" pitchFamily="34" charset="-120"/>
              </a:rPr>
              <a:t>Full control over recovery policies and the manual intervention queue.</a:t>
            </a:r>
            <a:endParaRPr lang="en-US" sz="1150" dirty="0"/>
          </a:p>
        </p:txBody>
      </p:sp>
      <p:sp>
        <p:nvSpPr>
          <p:cNvPr id="11" name="Shape 9"/>
          <p:cNvSpPr/>
          <p:nvPr/>
        </p:nvSpPr>
        <p:spPr>
          <a:xfrm>
            <a:off x="4937760" y="3977640"/>
            <a:ext cx="3657600" cy="1371600"/>
          </a:xfrm>
          <a:prstGeom prst="roundRect">
            <a:avLst>
              <a:gd name="adj" fmla="val 8000"/>
            </a:avLst>
          </a:prstGeom>
          <a:solidFill>
            <a:srgbClr val="121712"/>
          </a:solidFill>
          <a:ln/>
        </p:spPr>
        <p:txBody>
          <a:bodyPr/>
          <a:lstStyle/>
          <a:p>
            <a:endParaRPr lang="en-IN"/>
          </a:p>
        </p:txBody>
      </p:sp>
      <p:sp>
        <p:nvSpPr>
          <p:cNvPr id="12" name="Text 10"/>
          <p:cNvSpPr txBox="1"/>
          <p:nvPr/>
        </p:nvSpPr>
        <p:spPr>
          <a:xfrm>
            <a:off x="5212080" y="4160520"/>
            <a:ext cx="3200400" cy="274320"/>
          </a:xfrm>
          <a:prstGeom prst="rect">
            <a:avLst/>
          </a:prstGeom>
          <a:noFill/>
          <a:ln/>
        </p:spPr>
        <p:txBody>
          <a:bodyPr wrap="square" lIns="0" tIns="0" rIns="0" bIns="0" rtlCol="0" anchor="ctr"/>
          <a:lstStyle/>
          <a:p>
            <a:pPr marL="0" indent="0">
              <a:buNone/>
            </a:pPr>
            <a:r>
              <a:rPr lang="en-US" sz="1100" kern="0" spc="100" dirty="0">
                <a:solidFill>
                  <a:srgbClr val="B98AF0"/>
                </a:solidFill>
                <a:latin typeface="Poppins ExtraBold" pitchFamily="34" charset="0"/>
                <a:ea typeface="Poppins ExtraBold" pitchFamily="34" charset="-122"/>
                <a:cs typeface="Poppins ExtraBold" pitchFamily="34" charset="-120"/>
              </a:rPr>
              <a:t>ANALYST &amp; AUDITOR</a:t>
            </a:r>
            <a:endParaRPr lang="en-US" sz="1100" dirty="0"/>
          </a:p>
        </p:txBody>
      </p:sp>
      <p:sp>
        <p:nvSpPr>
          <p:cNvPr id="13" name="Text 11"/>
          <p:cNvSpPr txBox="1"/>
          <p:nvPr/>
        </p:nvSpPr>
        <p:spPr>
          <a:xfrm>
            <a:off x="5212080" y="4453128"/>
            <a:ext cx="3200400" cy="731520"/>
          </a:xfrm>
          <a:prstGeom prst="rect">
            <a:avLst/>
          </a:prstGeom>
          <a:noFill/>
          <a:ln/>
        </p:spPr>
        <p:txBody>
          <a:bodyPr wrap="square" lIns="0" tIns="0" rIns="0" bIns="0" rtlCol="0" anchor="ctr"/>
          <a:lstStyle/>
          <a:p>
            <a:pPr marL="0" indent="0">
              <a:lnSpc>
                <a:spcPts val="1500"/>
              </a:lnSpc>
              <a:buNone/>
            </a:pPr>
            <a:r>
              <a:rPr lang="en-US" sz="1150" dirty="0">
                <a:solidFill>
                  <a:srgbClr val="EFE6D3"/>
                </a:solidFill>
                <a:latin typeface="Poppins Medium" pitchFamily="34" charset="0"/>
                <a:ea typeface="Poppins Medium" pitchFamily="34" charset="-122"/>
                <a:cs typeface="Poppins Medium" pitchFamily="34" charset="-120"/>
              </a:rPr>
              <a:t>Deep insight into recovery metrics and immutable audit logs.</a:t>
            </a:r>
            <a:endParaRPr lang="en-US" sz="1150" dirty="0"/>
          </a:p>
        </p:txBody>
      </p:sp>
      <p:sp>
        <p:nvSpPr>
          <p:cNvPr id="14" name="Shape 12"/>
          <p:cNvSpPr/>
          <p:nvPr/>
        </p:nvSpPr>
        <p:spPr>
          <a:xfrm>
            <a:off x="777240" y="5532120"/>
            <a:ext cx="7680960" cy="960120"/>
          </a:xfrm>
          <a:prstGeom prst="roundRect">
            <a:avLst>
              <a:gd name="adj" fmla="val 11429"/>
            </a:avLst>
          </a:prstGeom>
          <a:solidFill>
            <a:srgbClr val="F0603A"/>
          </a:solidFill>
          <a:ln/>
        </p:spPr>
        <p:txBody>
          <a:bodyPr/>
          <a:lstStyle/>
          <a:p>
            <a:endParaRPr lang="en-IN"/>
          </a:p>
        </p:txBody>
      </p:sp>
      <p:sp>
        <p:nvSpPr>
          <p:cNvPr id="15" name="Text 13"/>
          <p:cNvSpPr txBox="1"/>
          <p:nvPr/>
        </p:nvSpPr>
        <p:spPr>
          <a:xfrm>
            <a:off x="1051560" y="5669280"/>
            <a:ext cx="4572000" cy="274320"/>
          </a:xfrm>
          <a:prstGeom prst="rect">
            <a:avLst/>
          </a:prstGeom>
          <a:noFill/>
          <a:ln/>
        </p:spPr>
        <p:txBody>
          <a:bodyPr wrap="square" lIns="0" tIns="0" rIns="0" bIns="0" rtlCol="0" anchor="ctr"/>
          <a:lstStyle/>
          <a:p>
            <a:pPr marL="0" indent="0">
              <a:buNone/>
            </a:pPr>
            <a:r>
              <a:rPr lang="en-US" sz="1050" kern="0" spc="100" dirty="0">
                <a:solidFill>
                  <a:srgbClr val="EFE6D3"/>
                </a:solidFill>
                <a:latin typeface="Poppins ExtraBold" pitchFamily="34" charset="0"/>
                <a:ea typeface="Poppins ExtraBold" pitchFamily="34" charset="-122"/>
                <a:cs typeface="Poppins ExtraBold" pitchFamily="34" charset="-120"/>
              </a:rPr>
              <a:t>BAYMAX AI ASSISTANT</a:t>
            </a:r>
            <a:endParaRPr lang="en-US" sz="1050" dirty="0"/>
          </a:p>
        </p:txBody>
      </p:sp>
      <p:sp>
        <p:nvSpPr>
          <p:cNvPr id="16" name="Text 14"/>
          <p:cNvSpPr txBox="1"/>
          <p:nvPr/>
        </p:nvSpPr>
        <p:spPr>
          <a:xfrm>
            <a:off x="1051560" y="5943600"/>
            <a:ext cx="5029200" cy="365760"/>
          </a:xfrm>
          <a:prstGeom prst="rect">
            <a:avLst/>
          </a:prstGeom>
          <a:noFill/>
          <a:ln/>
        </p:spPr>
        <p:txBody>
          <a:bodyPr wrap="square" lIns="0" tIns="0" rIns="0" bIns="0" rtlCol="0" anchor="ctr"/>
          <a:lstStyle/>
          <a:p>
            <a:pPr marL="0" indent="0">
              <a:buNone/>
            </a:pPr>
            <a:r>
              <a:rPr lang="en-US" sz="1300" dirty="0">
                <a:solidFill>
                  <a:srgbClr val="EFE6D3"/>
                </a:solidFill>
                <a:latin typeface="Poppins SemiBold" pitchFamily="34" charset="0"/>
                <a:ea typeface="Poppins SemiBold" pitchFamily="34" charset="-122"/>
                <a:cs typeface="Poppins SemiBold" pitchFamily="34" charset="-120"/>
              </a:rPr>
              <a:t>In-app assistant — Google Gemini with offline fallback.</a:t>
            </a:r>
            <a:endParaRPr lang="en-US" sz="1300" dirty="0"/>
          </a:p>
        </p:txBody>
      </p:sp>
      <p:pic>
        <p:nvPicPr>
          <p:cNvPr id="17" name="Image 0" descr="dollar.png"/>
          <p:cNvPicPr>
            <a:picLocks noChangeAspect="1"/>
          </p:cNvPicPr>
          <p:nvPr/>
        </p:nvPicPr>
        <p:blipFill>
          <a:blip r:embed="rId4"/>
          <a:stretch>
            <a:fillRect/>
          </a:stretch>
        </p:blipFill>
        <p:spPr>
          <a:xfrm>
            <a:off x="6903720" y="5623560"/>
            <a:ext cx="777240" cy="777240"/>
          </a:xfrm>
          <a:prstGeom prst="rect">
            <a:avLst/>
          </a:prstGeom>
        </p:spPr>
      </p:pic>
      <p:sp>
        <p:nvSpPr>
          <p:cNvPr id="18" name="Text 15"/>
          <p:cNvSpPr txBox="1"/>
          <p:nvPr/>
        </p:nvSpPr>
        <p:spPr>
          <a:xfrm>
            <a:off x="9311335" y="1280160"/>
            <a:ext cx="2468880" cy="274320"/>
          </a:xfrm>
          <a:prstGeom prst="rect">
            <a:avLst/>
          </a:prstGeom>
          <a:noFill/>
          <a:ln/>
        </p:spPr>
        <p:txBody>
          <a:bodyPr wrap="square" rtlCol="0" anchor="ctr"/>
          <a:lstStyle/>
          <a:p>
            <a:pPr marL="0" indent="0">
              <a:buNone/>
            </a:pPr>
            <a:r>
              <a:rPr lang="en-US" sz="1100" kern="0" spc="200" dirty="0">
                <a:solidFill>
                  <a:srgbClr val="121712"/>
                </a:solidFill>
                <a:latin typeface="Poppins ExtraBold" pitchFamily="34" charset="0"/>
                <a:ea typeface="Poppins ExtraBold" pitchFamily="34" charset="-122"/>
                <a:cs typeface="Poppins ExtraBold" pitchFamily="34" charset="-120"/>
              </a:rPr>
              <a:t>AT A GLANCE</a:t>
            </a:r>
            <a:endParaRPr lang="en-US" sz="1100" dirty="0"/>
          </a:p>
        </p:txBody>
      </p:sp>
      <p:sp>
        <p:nvSpPr>
          <p:cNvPr id="19" name="Text 16"/>
          <p:cNvSpPr txBox="1"/>
          <p:nvPr/>
        </p:nvSpPr>
        <p:spPr>
          <a:xfrm>
            <a:off x="9311335" y="1828800"/>
            <a:ext cx="2468880" cy="27432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10+ Screens</a:t>
            </a:r>
            <a:endParaRPr lang="en-US" sz="1250" dirty="0"/>
          </a:p>
        </p:txBody>
      </p:sp>
      <p:sp>
        <p:nvSpPr>
          <p:cNvPr id="20" name="Text 17"/>
          <p:cNvSpPr txBox="1"/>
          <p:nvPr/>
        </p:nvSpPr>
        <p:spPr>
          <a:xfrm>
            <a:off x="9311335" y="2121408"/>
            <a:ext cx="2468880" cy="640080"/>
          </a:xfrm>
          <a:prstGeom prst="rect">
            <a:avLst/>
          </a:prstGeom>
          <a:noFill/>
          <a:ln/>
        </p:spPr>
        <p:txBody>
          <a:bodyPr wrap="square" lIns="0" tIns="0" rIns="0" bIns="0" rtlCol="0" anchor="ctr"/>
          <a:lstStyle/>
          <a:p>
            <a:pPr marL="0" indent="0">
              <a:lnSpc>
                <a:spcPts val="1400"/>
              </a:lnSpc>
              <a:buNone/>
            </a:pPr>
            <a:r>
              <a:rPr lang="en-US" sz="1100" dirty="0">
                <a:solidFill>
                  <a:srgbClr val="2E3A12"/>
                </a:solidFill>
                <a:latin typeface="Poppins Medium" pitchFamily="34" charset="0"/>
                <a:ea typeface="Poppins Medium" pitchFamily="34" charset="-122"/>
                <a:cs typeface="Poppins Medium" pitchFamily="34" charset="-120"/>
              </a:rPr>
              <a:t>A full dashboard for every role.</a:t>
            </a:r>
            <a:endParaRPr lang="en-US" sz="1100" dirty="0"/>
          </a:p>
        </p:txBody>
      </p:sp>
      <p:sp>
        <p:nvSpPr>
          <p:cNvPr id="21" name="Text 18"/>
          <p:cNvSpPr txBox="1"/>
          <p:nvPr/>
        </p:nvSpPr>
        <p:spPr>
          <a:xfrm>
            <a:off x="9311335" y="2880360"/>
            <a:ext cx="2468880" cy="27432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Offline First</a:t>
            </a:r>
            <a:endParaRPr lang="en-US" sz="1250" dirty="0"/>
          </a:p>
        </p:txBody>
      </p:sp>
      <p:sp>
        <p:nvSpPr>
          <p:cNvPr id="22" name="Text 19"/>
          <p:cNvSpPr txBox="1"/>
          <p:nvPr/>
        </p:nvSpPr>
        <p:spPr>
          <a:xfrm>
            <a:off x="9311335" y="3172968"/>
            <a:ext cx="2468880" cy="640080"/>
          </a:xfrm>
          <a:prstGeom prst="rect">
            <a:avLst/>
          </a:prstGeom>
          <a:noFill/>
          <a:ln/>
        </p:spPr>
        <p:txBody>
          <a:bodyPr wrap="square" lIns="0" tIns="0" rIns="0" bIns="0" rtlCol="0" anchor="ctr"/>
          <a:lstStyle/>
          <a:p>
            <a:pPr marL="0" indent="0">
              <a:lnSpc>
                <a:spcPts val="1400"/>
              </a:lnSpc>
              <a:buNone/>
            </a:pPr>
            <a:r>
              <a:rPr lang="en-US" sz="1100" dirty="0">
                <a:solidFill>
                  <a:srgbClr val="2E3A12"/>
                </a:solidFill>
                <a:latin typeface="Poppins Medium" pitchFamily="34" charset="0"/>
                <a:ea typeface="Poppins Medium" pitchFamily="34" charset="-122"/>
                <a:cs typeface="Poppins Medium" pitchFamily="34" charset="-120"/>
              </a:rPr>
              <a:t>Runs with zero external keys.</a:t>
            </a:r>
            <a:endParaRPr lang="en-US" sz="1100" dirty="0"/>
          </a:p>
        </p:txBody>
      </p:sp>
      <p:sp>
        <p:nvSpPr>
          <p:cNvPr id="23" name="Text 20"/>
          <p:cNvSpPr txBox="1"/>
          <p:nvPr/>
        </p:nvSpPr>
        <p:spPr>
          <a:xfrm>
            <a:off x="9311335" y="3931920"/>
            <a:ext cx="2468880" cy="274320"/>
          </a:xfrm>
          <a:prstGeom prst="rect">
            <a:avLst/>
          </a:prstGeom>
          <a:noFill/>
          <a:ln/>
        </p:spPr>
        <p:txBody>
          <a:bodyPr wrap="square" lIns="0" tIns="0" rIns="0" bIns="0" rtlCol="0" anchor="ctr"/>
          <a:lstStyle/>
          <a:p>
            <a:pPr marL="0" indent="0">
              <a:buNone/>
            </a:pPr>
            <a:r>
              <a:rPr lang="en-US" sz="1250" dirty="0">
                <a:solidFill>
                  <a:srgbClr val="121712"/>
                </a:solidFill>
                <a:latin typeface="Poppins ExtraBold" pitchFamily="34" charset="0"/>
                <a:ea typeface="Poppins ExtraBold" pitchFamily="34" charset="-122"/>
                <a:cs typeface="Poppins ExtraBold" pitchFamily="34" charset="-120"/>
              </a:rPr>
              <a:t>Next.js Core</a:t>
            </a:r>
            <a:endParaRPr lang="en-US" sz="1250" dirty="0"/>
          </a:p>
        </p:txBody>
      </p:sp>
      <p:sp>
        <p:nvSpPr>
          <p:cNvPr id="24" name="Text 21"/>
          <p:cNvSpPr txBox="1"/>
          <p:nvPr/>
        </p:nvSpPr>
        <p:spPr>
          <a:xfrm>
            <a:off x="9311335" y="4224528"/>
            <a:ext cx="2468880" cy="640080"/>
          </a:xfrm>
          <a:prstGeom prst="rect">
            <a:avLst/>
          </a:prstGeom>
          <a:noFill/>
          <a:ln/>
        </p:spPr>
        <p:txBody>
          <a:bodyPr wrap="square" lIns="0" tIns="0" rIns="0" bIns="0" rtlCol="0" anchor="ctr"/>
          <a:lstStyle/>
          <a:p>
            <a:pPr marL="0" indent="0">
              <a:lnSpc>
                <a:spcPts val="1400"/>
              </a:lnSpc>
              <a:buNone/>
            </a:pPr>
            <a:r>
              <a:rPr lang="en-US" sz="1100" dirty="0">
                <a:solidFill>
                  <a:srgbClr val="2E3A12"/>
                </a:solidFill>
                <a:latin typeface="Poppins Medium" pitchFamily="34" charset="0"/>
                <a:ea typeface="Poppins Medium" pitchFamily="34" charset="-122"/>
                <a:cs typeface="Poppins Medium" pitchFamily="34" charset="-120"/>
              </a:rPr>
              <a:t>A modern, fast, typed stack.</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384048"/>
            <a:ext cx="7315200" cy="274320"/>
          </a:xfrm>
          <a:prstGeom prst="rect">
            <a:avLst/>
          </a:prstGeom>
          <a:noFill/>
          <a:ln/>
        </p:spPr>
        <p:txBody>
          <a:bodyPr wrap="square" rtlCol="0" anchor="ctr"/>
          <a:lstStyle/>
          <a:p>
            <a:pPr marL="0" indent="0">
              <a:buNone/>
            </a:pPr>
            <a:r>
              <a:rPr lang="en-US" sz="950" kern="0" spc="200" dirty="0">
                <a:solidFill>
                  <a:srgbClr val="C3E84C"/>
                </a:solidFill>
                <a:latin typeface="Poppins SemiBold" pitchFamily="34" charset="0"/>
                <a:ea typeface="Poppins SemiBold" pitchFamily="34" charset="-122"/>
                <a:cs typeface="Poppins SemiBold" pitchFamily="34" charset="-120"/>
              </a:rPr>
              <a:t>H O N E S T   V A L U E   ·   C L O S I N G</a:t>
            </a:r>
            <a:endParaRPr lang="en-US" sz="950" dirty="0"/>
          </a:p>
        </p:txBody>
      </p:sp>
      <p:sp>
        <p:nvSpPr>
          <p:cNvPr id="3" name="Text 1"/>
          <p:cNvSpPr txBox="1"/>
          <p:nvPr/>
        </p:nvSpPr>
        <p:spPr>
          <a:xfrm>
            <a:off x="5928055" y="384048"/>
            <a:ext cx="5486400" cy="274320"/>
          </a:xfrm>
          <a:prstGeom prst="rect">
            <a:avLst/>
          </a:prstGeom>
          <a:noFill/>
          <a:ln/>
        </p:spPr>
        <p:txBody>
          <a:bodyPr wrap="square" rtlCol="0" anchor="ctr"/>
          <a:lstStyle/>
          <a:p>
            <a:pPr marL="0" indent="0" algn="r">
              <a:buNone/>
            </a:pPr>
            <a:r>
              <a:rPr lang="en-US" sz="950" kern="0" spc="200" dirty="0">
                <a:solidFill>
                  <a:srgbClr val="C3E84C"/>
                </a:solidFill>
                <a:latin typeface="Poppins SemiBold" pitchFamily="34" charset="0"/>
                <a:ea typeface="Poppins SemiBold" pitchFamily="34" charset="-122"/>
                <a:cs typeface="Poppins SemiBold" pitchFamily="34" charset="-120"/>
              </a:rPr>
              <a:t>R E O S   /   2 0 2 6</a:t>
            </a:r>
            <a:endParaRPr lang="en-US" sz="950" dirty="0"/>
          </a:p>
        </p:txBody>
      </p:sp>
      <p:grpSp>
        <p:nvGrpSpPr>
          <p:cNvPr id="12" name="Group 11">
            <a:extLst>
              <a:ext uri="{FF2B5EF4-FFF2-40B4-BE49-F238E27FC236}">
                <a16:creationId xmlns:a16="http://schemas.microsoft.com/office/drawing/2014/main" id="{64CF8B3C-10AD-5984-296C-9E1C4B16C9AA}"/>
              </a:ext>
            </a:extLst>
          </p:cNvPr>
          <p:cNvGrpSpPr/>
          <p:nvPr/>
        </p:nvGrpSpPr>
        <p:grpSpPr>
          <a:xfrm>
            <a:off x="8229600" y="1262462"/>
            <a:ext cx="3291840" cy="3291840"/>
            <a:chOff x="8229600" y="731520"/>
            <a:chExt cx="3291840" cy="3291840"/>
          </a:xfrm>
        </p:grpSpPr>
        <p:pic>
          <p:nvPicPr>
            <p:cNvPr id="4" name="Image 0" descr="m_star_orange.png"/>
            <p:cNvPicPr>
              <a:picLocks noChangeAspect="1"/>
            </p:cNvPicPr>
            <p:nvPr/>
          </p:nvPicPr>
          <p:blipFill>
            <a:blip r:embed="rId4"/>
            <a:stretch>
              <a:fillRect/>
            </a:stretch>
          </p:blipFill>
          <p:spPr>
            <a:xfrm>
              <a:off x="8229600" y="731520"/>
              <a:ext cx="3291840" cy="3291840"/>
            </a:xfrm>
            <a:prstGeom prst="rect">
              <a:avLst/>
            </a:prstGeom>
          </p:spPr>
        </p:pic>
        <p:pic>
          <p:nvPicPr>
            <p:cNvPr id="5" name="Image 1" descr="dollar.png"/>
            <p:cNvPicPr>
              <a:picLocks noChangeAspect="1"/>
            </p:cNvPicPr>
            <p:nvPr/>
          </p:nvPicPr>
          <p:blipFill>
            <a:blip r:embed="rId5"/>
            <a:stretch>
              <a:fillRect/>
            </a:stretch>
          </p:blipFill>
          <p:spPr>
            <a:xfrm>
              <a:off x="9052560" y="1463040"/>
              <a:ext cx="1737360" cy="1737360"/>
            </a:xfrm>
            <a:prstGeom prst="rect">
              <a:avLst/>
            </a:prstGeom>
          </p:spPr>
        </p:pic>
      </p:grpSp>
      <p:sp>
        <p:nvSpPr>
          <p:cNvPr id="6" name="Text 2"/>
          <p:cNvSpPr txBox="1"/>
          <p:nvPr/>
        </p:nvSpPr>
        <p:spPr>
          <a:xfrm>
            <a:off x="722376" y="1463040"/>
            <a:ext cx="7315200" cy="1005840"/>
          </a:xfrm>
          <a:prstGeom prst="rect">
            <a:avLst/>
          </a:prstGeom>
          <a:noFill/>
          <a:ln/>
        </p:spPr>
        <p:txBody>
          <a:bodyPr wrap="square" lIns="0" tIns="0" rIns="0" bIns="0" rtlCol="0" anchor="ctr"/>
          <a:lstStyle/>
          <a:p>
            <a:pPr marL="0" indent="0">
              <a:buNone/>
            </a:pPr>
            <a:r>
              <a:rPr lang="en-US" sz="5600" dirty="0">
                <a:solidFill>
                  <a:srgbClr val="EFE6D3"/>
                </a:solidFill>
                <a:latin typeface="Archivo Black" pitchFamily="34" charset="0"/>
                <a:ea typeface="Archivo Black" pitchFamily="34" charset="-122"/>
                <a:cs typeface="Archivo Black" pitchFamily="34" charset="-120"/>
              </a:rPr>
              <a:t>Thank you.</a:t>
            </a:r>
            <a:endParaRPr lang="en-US" sz="5600" dirty="0"/>
          </a:p>
        </p:txBody>
      </p:sp>
      <p:sp>
        <p:nvSpPr>
          <p:cNvPr id="7" name="Text 3"/>
          <p:cNvSpPr txBox="1"/>
          <p:nvPr/>
        </p:nvSpPr>
        <p:spPr>
          <a:xfrm>
            <a:off x="777240" y="2651760"/>
            <a:ext cx="6766560" cy="2377440"/>
          </a:xfrm>
          <a:prstGeom prst="rect">
            <a:avLst/>
          </a:prstGeom>
          <a:noFill/>
          <a:ln/>
        </p:spPr>
        <p:txBody>
          <a:bodyPr wrap="square" lIns="0" tIns="0" rIns="0" bIns="0" rtlCol="0" anchor="t"/>
          <a:lstStyle/>
          <a:p>
            <a:pPr marL="0" indent="0">
              <a:lnSpc>
                <a:spcPts val="1900"/>
              </a:lnSpc>
              <a:buNone/>
            </a:pPr>
            <a:r>
              <a:rPr lang="en-US" sz="1300" dirty="0">
                <a:solidFill>
                  <a:srgbClr val="9DBCB4"/>
                </a:solidFill>
                <a:latin typeface="Poppins Medium" pitchFamily="34" charset="0"/>
                <a:ea typeface="Poppins Medium" pitchFamily="34" charset="-122"/>
                <a:cs typeface="Poppins Medium" pitchFamily="34" charset="-120"/>
              </a:rPr>
              <a:t>One last, honest point. The recovered money belongs to the merchant — we never claim it as Razorpay’s revenue. Razorpay’s benefit is indirect but real: merchants who capture more and churn less make the platform stickier through conversion, retention, and differentiation. We measure those two things separately and never conflate them. ReOS runs fully offline with zero keys, has a tested credibility core, and is built on Next.js — ready to run the moment you clone it.</a:t>
            </a:r>
            <a:endParaRPr lang="en-US" sz="1300" dirty="0"/>
          </a:p>
        </p:txBody>
      </p:sp>
      <p:sp>
        <p:nvSpPr>
          <p:cNvPr id="8" name="Text 4"/>
          <p:cNvSpPr txBox="1"/>
          <p:nvPr/>
        </p:nvSpPr>
        <p:spPr>
          <a:xfrm>
            <a:off x="777240" y="4754880"/>
            <a:ext cx="5486400" cy="365760"/>
          </a:xfrm>
          <a:prstGeom prst="rect">
            <a:avLst/>
          </a:prstGeom>
          <a:noFill/>
          <a:ln/>
        </p:spPr>
        <p:txBody>
          <a:bodyPr wrap="square" rtlCol="0" anchor="ctr"/>
          <a:lstStyle/>
          <a:p>
            <a:pPr marL="0" indent="0">
              <a:buNone/>
            </a:pPr>
            <a:r>
              <a:rPr lang="en-US" sz="1600" dirty="0">
                <a:solidFill>
                  <a:srgbClr val="EFE6D3"/>
                </a:solidFill>
                <a:latin typeface="Poppins ExtraBold" pitchFamily="34" charset="0"/>
                <a:ea typeface="Poppins ExtraBold" pitchFamily="34" charset="-122"/>
                <a:cs typeface="Poppins ExtraBold" pitchFamily="34" charset="-120"/>
              </a:rPr>
              <a:t>K. Ajay John Paul</a:t>
            </a:r>
            <a:endParaRPr lang="en-US" sz="1600" dirty="0"/>
          </a:p>
        </p:txBody>
      </p:sp>
      <p:sp>
        <p:nvSpPr>
          <p:cNvPr id="9" name="Text 5"/>
          <p:cNvSpPr txBox="1"/>
          <p:nvPr/>
        </p:nvSpPr>
        <p:spPr>
          <a:xfrm>
            <a:off x="777240" y="5120640"/>
            <a:ext cx="5486400" cy="320040"/>
          </a:xfrm>
          <a:prstGeom prst="rect">
            <a:avLst/>
          </a:prstGeom>
          <a:noFill/>
          <a:ln/>
        </p:spPr>
        <p:txBody>
          <a:bodyPr wrap="square" rtlCol="0" anchor="ctr"/>
          <a:lstStyle/>
          <a:p>
            <a:pPr marL="0" indent="0">
              <a:buNone/>
            </a:pPr>
            <a:r>
              <a:rPr lang="en-US" sz="1300" dirty="0">
                <a:solidFill>
                  <a:srgbClr val="C3E84C"/>
                </a:solidFill>
                <a:latin typeface="Poppins SemiBold" pitchFamily="34" charset="0"/>
                <a:ea typeface="Poppins SemiBold" pitchFamily="34" charset="-122"/>
                <a:cs typeface="Poppins SemiBold" pitchFamily="34" charset="-120"/>
              </a:rPr>
              <a:t>github.com/Kajayjohnpauldev/REOS</a:t>
            </a:r>
            <a:endParaRPr lang="en-US" sz="1300" dirty="0"/>
          </a:p>
        </p:txBody>
      </p:sp>
      <p:sp>
        <p:nvSpPr>
          <p:cNvPr id="10" name="Shape 6"/>
          <p:cNvSpPr/>
          <p:nvPr/>
        </p:nvSpPr>
        <p:spPr>
          <a:xfrm>
            <a:off x="777240" y="5806440"/>
            <a:ext cx="3756355" cy="402336"/>
          </a:xfrm>
          <a:prstGeom prst="roundRect">
            <a:avLst>
              <a:gd name="adj" fmla="val 50000"/>
            </a:avLst>
          </a:prstGeom>
          <a:ln w="15875">
            <a:solidFill>
              <a:srgbClr val="C3E84C"/>
            </a:solidFill>
            <a:prstDash val="solid"/>
          </a:ln>
        </p:spPr>
        <p:txBody>
          <a:bodyPr/>
          <a:lstStyle/>
          <a:p>
            <a:endParaRPr lang="en-IN"/>
          </a:p>
        </p:txBody>
      </p:sp>
      <p:sp>
        <p:nvSpPr>
          <p:cNvPr id="11" name="Text 7"/>
          <p:cNvSpPr txBox="1"/>
          <p:nvPr/>
        </p:nvSpPr>
        <p:spPr>
          <a:xfrm>
            <a:off x="777240" y="5806440"/>
            <a:ext cx="3756355" cy="402336"/>
          </a:xfrm>
          <a:prstGeom prst="rect">
            <a:avLst/>
          </a:prstGeom>
          <a:noFill/>
          <a:ln/>
        </p:spPr>
        <p:txBody>
          <a:bodyPr wrap="square" lIns="0" tIns="0" rIns="0" bIns="0" rtlCol="0" anchor="ctr"/>
          <a:lstStyle/>
          <a:p>
            <a:pPr marL="0" indent="0" algn="ctr">
              <a:buNone/>
            </a:pPr>
            <a:r>
              <a:rPr lang="en-US" sz="1000" kern="0" spc="100" dirty="0">
                <a:solidFill>
                  <a:srgbClr val="C3E84C"/>
                </a:solidFill>
                <a:latin typeface="Poppins SemiBold" pitchFamily="34" charset="0"/>
                <a:ea typeface="Poppins SemiBold" pitchFamily="34" charset="-122"/>
                <a:cs typeface="Poppins SemiBold" pitchFamily="34" charset="-120"/>
              </a:rPr>
              <a:t>  RECOVER MORE REVENUE · PROVE EVERY RUPEE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3292</Words>
  <Application>Microsoft Office PowerPoint</Application>
  <PresentationFormat>Widescreen</PresentationFormat>
  <Paragraphs>228</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 Black</vt:lpstr>
      <vt:lpstr>Archivo Black</vt:lpstr>
      <vt:lpstr>Arial</vt:lpstr>
      <vt:lpstr>Arial Black</vt:lpstr>
      <vt:lpstr>Poppins ExtraBold</vt:lpstr>
      <vt:lpstr>Poppins Medium</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Ajay John Paul</dc:creator>
  <cp:lastModifiedBy>KANAGALA AJAY JOHN PAUL .</cp:lastModifiedBy>
  <cp:revision>2</cp:revision>
  <dcterms:created xsi:type="dcterms:W3CDTF">2026-09-03T10:59:33Z</dcterms:created>
  <dcterms:modified xsi:type="dcterms:W3CDTF">2026-09-03T11:17:17Z</dcterms:modified>
</cp:coreProperties>
</file>